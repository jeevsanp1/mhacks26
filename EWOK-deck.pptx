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4" r:id="rId25"/>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678bc8-5277-cf00-cafb-8edc59515fb8}">
          <p14:sldIdLst>
            <p14:sldId id="256"/>
          </p14:sldIdLst>
        </p14:section>
        <p14:section name="The problem" id="{8e022303-791b-fcc2-c8df-ca24d3747236}">
          <p14:sldIdLst>
            <p14:sldId id="257"/>
            <p14:sldId id="258"/>
          </p14:sldIdLst>
        </p14:section>
        <p14:section name="The product" id="{fa3aef25-c6a5-da9d-c34e-28c4b88211ba}">
          <p14:sldIdLst>
            <p14:sldId id="259"/>
            <p14:sldId id="260"/>
            <p14:sldId id="261"/>
          </p14:sldIdLst>
        </p14:section>
        <p14:section name="Safety" id="{5f55381e-0f29-e21c-87d9-2be65d74cb41}">
          <p14:sldIdLst>
            <p14:sldId id="262"/>
            <p14:sldId id="263"/>
            <p14:sldId id="264"/>
            <p14:sldId id="265"/>
            <p14:sldId id="266"/>
          </p14:sldIdLst>
        </p14:section>
        <p14:section name="In use" id="{40e578ac-f044-c086-8f1c-571636994659}">
          <p14:sldIdLst>
            <p14:sldId id="267"/>
            <p14:sldId id="268"/>
          </p14:sldIdLst>
        </p14:section>
        <p14:section name="Under the hood" id="{d935b91c-ef82-0e5d-b90e-f4cc4c4bdea3}">
          <p14:sldIdLst>
            <p14:sldId id="269"/>
            <p14:sldId id="270"/>
            <p14:sldId id="271"/>
            <p14:sldId id="272"/>
          </p14:sldIdLst>
        </p14:section>
        <p14:section name="Close" id="{e86c5a63-5749-150e-f2a6-9052f14ea30d}">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  <Relationship Id="rId25" Type="http://schemas.openxmlformats.org/officeDocument/2006/relationships/slide" Target="slides/slide1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EWOK is a voice-first assistant for older adults. It simplifies email, banking, health records and the computer itself, while keeping the older person in charge of every decision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is getting more complicated, older adults are the most heavily targeted group for scams, and mainstream assistants assume fast speech and tech confidence. The people who would benefit most from an assistant are the ones least served by today's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users are older adults, and they are the principal. Even if a son or daughter sets EWOK up, the agent works for the older person. We design for slow speech, hearing and vision loss, low confidence with technology, and people who simply won't install an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talk to EWOK like a person. Call it on a regular phone number, talk to it in the browser, or type in a large-text chat. Behind every channel is one agent with one memory and one set of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It greets the person by name and shows the time and date. The voice dial lets them speak at their own pace. Connectors open next to the conversation, and sample data is clearly labeled. The design targets WCAG 2.2 AAA: 7 to 1 text contrast and enlarged targets, in light and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the core of the product. Voice works on every channel. Spoken fillers mean silence never feels like the system broke. EWOK asks one simple question at a time, and stop and undo work instantly. Large text is a real alternative, and memory gently restates context rather than assuming the person remembers.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an accessibility feature: trust is what makes people willing to use it. Reading and reminders are free. Reversible actions get a light yes. Anything touching money, identity or personal information gets strong friction, and the confirmation says exactly what will happen,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technical claim. The policy layer lives outside the model, so a clever conversation or a prompt-injected email cannot talk it out of its rules. Payments are capped at $500 each and $1,000 a day, new payees wait 24 hours, payees must be allowlisted, confirmation tokens are single-use, and there is simply no tool that can share a password or Social Security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EWOK reads is treated as untrusted. A rules-based classifier flags the classic scam patterns, and EWOK says so plainly. Forwarding anything suspicious to EWOK becomes a habit. Family can be notified, but they don't take control away from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use is the most powerful thing EWOK does, so it gets the most care. The model only proposes actions. A check outside the model decides whether each one runs, EWOK narrates what it's doing out loud, and a fresh screenshot verifies the result and goes in the audit log. Today the tool can be switched off with one setting, the gateway is localhost only, macOS has to grant permission, and every move is clamped to the screen. The check step is the design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safeguards we're adding on top. EWOK never handles passwords or card numbers: it pauses and lets the person type. Anything on screen is treated like an untrusted email, so a fake tech-support pop-up gets flagged instead of obeyed. Clicks with consequences need a spoken confirmation that says exactly what will happen. The browser sticks to the person's own sites, every task has a step budget, and stop always wins. The mouse-to-corner abort already works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Connectors bring in the person's data. Nessie is a mock bank, FinchNode is synthetic health records, and there's a calendar. Ask by voice and the matching panel opens beside the conversation. EWOK can also combine them, for example to work out what medications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EWOK does today: medications, money, appointments, a scam second opinion, operating email and the computer, and reminders that run on a schedule. Family can be notified for scam flags or after high-stakes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there are six layers. The interface handles voice and screens. The agent is a Pydantic AI gateway. The policy layer sits between the agent and every tool, outside the model. Tools are narrow and hold their own scoped credentials. Memory is a store the person owns, and oversight covers the audit log and family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challenge was building the harness from scratch instead of forking OpenClaw. The agent loop is Pydantic AI, but we re-derived the control plane ourselves: the connect handshake, request, response and event frames, accepting a turn immediately with a run id, agent.wait, per-session lanes and queue modes, the MEMORY.md bootstrap, and automations the gateway actually fires. It feels compatible with OpenClaw, but it isn't a clone, and every time we had to decide whether to copy the idea or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our own harness mostly because of the safeguards needed when a non-technical person has an AI agent helping run their life. A fully hands-off harness lets the agent build new skills, which adds vulnerabilities, and an interface that keeps changing confuses people who rely on routine. Third-party skills mean vetting a potentially endless supply of code from the internet, which no older adult can be expected to judge. So EWOK has a fixed, reviewed set of tools, all behind the policy layer, and an interface that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where we are: the voice, chat, dashboard, connectors, memory, scam flagging and policy layer are built. Bank and health data are mock and synthetic. Real payments, SMS and a dedicated large-text view are still to come, and we haven't tested with real users yet, so we make no usage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EWOK gives older adults a patient voice, a clear screen, and guardrails that keep them in charge.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063240"/>
            <a:ext cx="10698480" cy="1371600"/>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731520" y="5120640"/>
            <a:ext cx="10698480" cy="457200"/>
          </a:xfrm>
          <a:prstGeom prst="rect">
            <a:avLst/>
          </a:prstGeom>
          <a:noFill/>
          <a:ln/>
        </p:spPr>
        <p:txBody>
          <a:bodyPr wrap="square" rtlCol="0"/>
          <a:lstStyle>
            <a:lvl1pPr indent="0" marL="0">
              <a:buNone/>
              <a:defRPr lang="en-US" sz="1400" b="1" spc="400" kern="0" dirty="0">
                <a:solidFill>
                  <a:schemeClr val="accent4"/>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4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tx1"/>
                </a:solidFill>
              </a:rPr>
              <a:t>EWOK  ·  MHacks 26</a:t>
            </a:r>
            <a:endParaRPr lang="en-US" sz="10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4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rtlCol="0"/>
          <a:lstStyle>
            <a:lvl1pPr algn="l" indent="0" marL="0">
              <a:buNone/>
              <a:defRPr lang="en-US" sz="3600" dirty="0">
                <a:solidFill>
                  <a:schemeClr val="bg1"/>
                </a:solidFill>
              </a:defRPr>
            </a:lvl1pPr>
          </a:lstStyle>
          <a:p>
            <a:pPr algn="l" indent="0" marL="0">
              <a:buNone/>
            </a:pPr>
            <a:endParaRPr lang="en-US" sz="36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bg2"/>
                </a:solidFill>
              </a:rPr>
              <a:t>EWOK  ·  MHacks 26</a:t>
            </a:r>
            <a:endParaRPr lang="en-US" sz="10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3.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WOK logo">    </p:cNvPr>
          <p:cNvPicPr>
            <a:picLocks noChangeAspect="1"/>
          </p:cNvPicPr>
          <p:nvPr/>
        </p:nvPicPr>
        <p:blipFill>
          <a:blip r:embed="rId1"/>
          <a:stretch>
            <a:fillRect/>
          </a:stretch>
        </p:blipFill>
        <p:spPr>
          <a:xfrm>
            <a:off x="731520" y="1188720"/>
            <a:ext cx="6035040" cy="1404478"/>
          </a:xfrm>
          <a:prstGeom prst="rect">
            <a:avLst/>
          </a:prstGeom>
        </p:spPr>
      </p:pic>
      <p:sp>
        <p:nvSpPr>
          <p:cNvPr id="3" name="Text 0"/>
          <p:cNvSpPr/>
          <p:nvPr>
            <p:ph idx="100" type="title" hasCustomPrompt="1"/>
          </p:nvPr>
        </p:nvSpPr>
        <p:spPr>
          <a:xfrm>
            <a:off x="731520" y="3063240"/>
            <a:ext cx="10698480" cy="1371600"/>
          </a:xfrm>
          <a:prstGeom prst="rect">
            <a:avLst/>
          </a:prstGeom>
          <a:noFill/>
          <a:ln/>
        </p:spPr>
        <p:txBody>
          <a:bodyPr wrap="square" lIns="0" tIns="0" rIns="0" bIns="0" rtlCol="0" anchor="t"/>
          <a:lstStyle/>
          <a:p>
            <a:pPr algn="l" indent="0" marL="0">
              <a:buNone/>
            </a:pPr>
            <a:r>
              <a:rPr lang="en-US" sz="3200" dirty="0">
                <a:solidFill>
                  <a:schemeClr val="bg1"/>
                </a:solidFill>
              </a:rPr>
              <a:t>A voice-first AI assistant that makes technology work for older adults, and keeps them in control</a:t>
            </a:r>
            <a:endParaRPr lang="en-US" sz="3200" dirty="0"/>
          </a:p>
        </p:txBody>
      </p:sp>
      <p:sp>
        <p:nvSpPr>
          <p:cNvPr id="4" name="Text 0"/>
          <p:cNvSpPr/>
          <p:nvPr>
            <p:ph idx="101" type="body" hasCustomPrompt="1"/>
          </p:nvPr>
        </p:nvSpPr>
        <p:spPr>
          <a:xfrm>
            <a:off x="731520" y="5120640"/>
            <a:ext cx="10698480" cy="457200"/>
          </a:xfrm>
          <a:prstGeom prst="rect">
            <a:avLst/>
          </a:prstGeom>
          <a:noFill/>
          <a:ln/>
        </p:spPr>
        <p:txBody>
          <a:bodyPr wrap="square" lIns="0" tIns="0" rIns="0" bIns="0" rtlCol="0"/>
          <a:lstStyle/>
          <a:p>
            <a:pPr indent="0" marL="0">
              <a:buNone/>
            </a:pPr>
            <a:r>
              <a:rPr lang="en-US" sz="1400" b="1" spc="400" kern="0" dirty="0">
                <a:solidFill>
                  <a:schemeClr val="accent4"/>
                </a:solidFill>
              </a:rPr>
              <a:t>MHACKS 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THE PROBLEM</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The people who could benefit most are served least</a:t>
            </a:r>
            <a:endParaRPr lang="en-US" sz="3600" dirty="0"/>
          </a:p>
        </p:txBody>
      </p:sp>
      <p:sp>
        <p:nvSpPr>
          <p:cNvPr id="4" name="problem card 1"/>
          <p:cNvSpPr/>
          <p:nvPr/>
        </p:nvSpPr>
        <p:spPr>
          <a:xfrm>
            <a:off x="548640" y="1920240"/>
            <a:ext cx="3474720" cy="3566160"/>
          </a:xfrm>
          <a:prstGeom prst="rect">
            <a:avLst/>
          </a:prstGeom>
          <a:solidFill>
            <a:schemeClr val="bg2"/>
          </a:solidFill>
          <a:ln/>
        </p:spPr>
      </p:sp>
      <p:sp>
        <p:nvSpPr>
          <p:cNvPr id="5" name="badge LuSmartphone"/>
          <p:cNvSpPr/>
          <p:nvPr/>
        </p:nvSpPr>
        <p:spPr>
          <a:xfrm>
            <a:off x="914400" y="2286000"/>
            <a:ext cx="777240" cy="777240"/>
          </a:xfrm>
          <a:prstGeom prst="ellipse">
            <a:avLst/>
          </a:prstGeom>
          <a:solidFill>
            <a:schemeClr val="bg1"/>
          </a:solidFill>
          <a:ln/>
        </p:spPr>
      </p:sp>
      <p:pic>
        <p:nvPicPr>
          <p:cNvPr id="6" name="Image 0" descr="Smartphone icon">    </p:cNvPr>
          <p:cNvPicPr>
            <a:picLocks noChangeAspect="1"/>
          </p:cNvPicPr>
          <p:nvPr/>
        </p:nvPicPr>
        <p:blipFill>
          <a:blip r:embed="rId1"/>
          <a:stretch>
            <a:fillRect/>
          </a:stretch>
        </p:blipFill>
        <p:spPr>
          <a:xfrm>
            <a:off x="1108710" y="2480310"/>
            <a:ext cx="388620" cy="388620"/>
          </a:xfrm>
          <a:prstGeom prst="rect">
            <a:avLst/>
          </a:prstGeom>
        </p:spPr>
      </p:pic>
      <p:sp>
        <p:nvSpPr>
          <p:cNvPr id="7" name="Text 4"/>
          <p:cNvSpPr txBox="1"/>
          <p:nvPr/>
        </p:nvSpPr>
        <p:spPr>
          <a:xfrm>
            <a:off x="914400" y="3337560"/>
            <a:ext cx="2743200" cy="8686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Tech keeps getting harder</a:t>
            </a:r>
            <a:endParaRPr lang="en-US" sz="2000" dirty="0"/>
          </a:p>
        </p:txBody>
      </p:sp>
      <p:sp>
        <p:nvSpPr>
          <p:cNvPr id="8" name="Text 5"/>
          <p:cNvSpPr txBox="1"/>
          <p:nvPr/>
        </p:nvSpPr>
        <p:spPr>
          <a:xfrm>
            <a:off x="914400" y="4297680"/>
            <a:ext cx="2743200" cy="1371600"/>
          </a:xfrm>
          <a:prstGeom prst="rect">
            <a:avLst/>
          </a:prstGeom>
          <a:noFill/>
          <a:ln/>
        </p:spPr>
        <p:txBody>
          <a:bodyPr wrap="square" lIns="0" tIns="0" rIns="0" bIns="0" rtlCol="0" anchor="t"/>
          <a:lstStyle/>
          <a:p>
            <a:pPr indent="0" marL="0">
              <a:buNone/>
            </a:pPr>
            <a:r>
              <a:rPr lang="en-US" sz="1500" dirty="0">
                <a:solidFill>
                  <a:schemeClr val="tx1"/>
                </a:solidFill>
              </a:rPr>
              <a:t>Email, banking, appointments and patient portals each bring their own logins, menus and jargon.</a:t>
            </a:r>
            <a:endParaRPr lang="en-US" sz="1500" dirty="0"/>
          </a:p>
        </p:txBody>
      </p:sp>
      <p:sp>
        <p:nvSpPr>
          <p:cNvPr id="9" name="problem card 2"/>
          <p:cNvSpPr/>
          <p:nvPr/>
        </p:nvSpPr>
        <p:spPr>
          <a:xfrm>
            <a:off x="4297680" y="1920240"/>
            <a:ext cx="3474720" cy="3566160"/>
          </a:xfrm>
          <a:prstGeom prst="rect">
            <a:avLst/>
          </a:prstGeom>
          <a:solidFill>
            <a:schemeClr val="bg2"/>
          </a:solidFill>
          <a:ln/>
        </p:spPr>
      </p:sp>
      <p:sp>
        <p:nvSpPr>
          <p:cNvPr id="10" name="badge LuTriangleAlert"/>
          <p:cNvSpPr/>
          <p:nvPr/>
        </p:nvSpPr>
        <p:spPr>
          <a:xfrm>
            <a:off x="4663440" y="2286000"/>
            <a:ext cx="777240" cy="777240"/>
          </a:xfrm>
          <a:prstGeom prst="ellipse">
            <a:avLst/>
          </a:prstGeom>
          <a:solidFill>
            <a:schemeClr val="bg1"/>
          </a:solidFill>
          <a:ln/>
        </p:spPr>
      </p:sp>
      <p:pic>
        <p:nvPicPr>
          <p:cNvPr id="11" name="Image 1" descr="TriangleAlert icon">    </p:cNvPr>
          <p:cNvPicPr>
            <a:picLocks noChangeAspect="1"/>
          </p:cNvPicPr>
          <p:nvPr/>
        </p:nvPicPr>
        <p:blipFill>
          <a:blip r:embed="rId2"/>
          <a:stretch>
            <a:fillRect/>
          </a:stretch>
        </p:blipFill>
        <p:spPr>
          <a:xfrm>
            <a:off x="4857750" y="2480310"/>
            <a:ext cx="388620" cy="388620"/>
          </a:xfrm>
          <a:prstGeom prst="rect">
            <a:avLst/>
          </a:prstGeom>
        </p:spPr>
      </p:pic>
      <p:sp>
        <p:nvSpPr>
          <p:cNvPr id="12" name="Text 8"/>
          <p:cNvSpPr txBox="1"/>
          <p:nvPr/>
        </p:nvSpPr>
        <p:spPr>
          <a:xfrm>
            <a:off x="4663440" y="3337560"/>
            <a:ext cx="2743200" cy="8686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Scammers target older adults</a:t>
            </a:r>
            <a:endParaRPr lang="en-US" sz="2000" dirty="0"/>
          </a:p>
        </p:txBody>
      </p:sp>
      <p:sp>
        <p:nvSpPr>
          <p:cNvPr id="13" name="Text 9"/>
          <p:cNvSpPr txBox="1"/>
          <p:nvPr/>
        </p:nvSpPr>
        <p:spPr>
          <a:xfrm>
            <a:off x="4663440" y="4297680"/>
            <a:ext cx="2743200" cy="1371600"/>
          </a:xfrm>
          <a:prstGeom prst="rect">
            <a:avLst/>
          </a:prstGeom>
          <a:noFill/>
          <a:ln/>
        </p:spPr>
        <p:txBody>
          <a:bodyPr wrap="square" lIns="0" tIns="0" rIns="0" bIns="0" rtlCol="0" anchor="t"/>
          <a:lstStyle/>
          <a:p>
            <a:pPr indent="0" marL="0">
              <a:buNone/>
            </a:pPr>
            <a:r>
              <a:rPr lang="en-US" sz="1500" dirty="0">
                <a:solidFill>
                  <a:schemeClr val="tx1"/>
                </a:solidFill>
              </a:rPr>
              <a:t>Urgent calls, gift-card demands and fake bank emails are aimed squarely at this group.</a:t>
            </a:r>
            <a:endParaRPr lang="en-US" sz="1500" dirty="0"/>
          </a:p>
        </p:txBody>
      </p:sp>
      <p:sp>
        <p:nvSpPr>
          <p:cNvPr id="14" name="problem card 3"/>
          <p:cNvSpPr/>
          <p:nvPr/>
        </p:nvSpPr>
        <p:spPr>
          <a:xfrm>
            <a:off x="8046720" y="1920240"/>
            <a:ext cx="3474720" cy="3566160"/>
          </a:xfrm>
          <a:prstGeom prst="rect">
            <a:avLst/>
          </a:prstGeom>
          <a:solidFill>
            <a:schemeClr val="bg2"/>
          </a:solidFill>
          <a:ln/>
        </p:spPr>
      </p:sp>
      <p:sp>
        <p:nvSpPr>
          <p:cNvPr id="15" name="badge LuAudioLines"/>
          <p:cNvSpPr/>
          <p:nvPr/>
        </p:nvSpPr>
        <p:spPr>
          <a:xfrm>
            <a:off x="8412480" y="2286000"/>
            <a:ext cx="777240" cy="777240"/>
          </a:xfrm>
          <a:prstGeom prst="ellipse">
            <a:avLst/>
          </a:prstGeom>
          <a:solidFill>
            <a:schemeClr val="bg1"/>
          </a:solidFill>
          <a:ln/>
        </p:spPr>
      </p:sp>
      <p:pic>
        <p:nvPicPr>
          <p:cNvPr id="16" name="Image 2" descr="AudioLines icon">    </p:cNvPr>
          <p:cNvPicPr>
            <a:picLocks noChangeAspect="1"/>
          </p:cNvPicPr>
          <p:nvPr/>
        </p:nvPicPr>
        <p:blipFill>
          <a:blip r:embed="rId3"/>
          <a:stretch>
            <a:fillRect/>
          </a:stretch>
        </p:blipFill>
        <p:spPr>
          <a:xfrm>
            <a:off x="8606790" y="2480310"/>
            <a:ext cx="388620" cy="388620"/>
          </a:xfrm>
          <a:prstGeom prst="rect">
            <a:avLst/>
          </a:prstGeom>
        </p:spPr>
      </p:pic>
      <p:sp>
        <p:nvSpPr>
          <p:cNvPr id="17" name="Text 12"/>
          <p:cNvSpPr txBox="1"/>
          <p:nvPr/>
        </p:nvSpPr>
        <p:spPr>
          <a:xfrm>
            <a:off x="8412480" y="3337560"/>
            <a:ext cx="2743200" cy="8686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Assistants assume a fast talker</a:t>
            </a:r>
            <a:endParaRPr lang="en-US" sz="2000" dirty="0"/>
          </a:p>
        </p:txBody>
      </p:sp>
      <p:sp>
        <p:nvSpPr>
          <p:cNvPr id="18" name="Text 13"/>
          <p:cNvSpPr txBox="1"/>
          <p:nvPr/>
        </p:nvSpPr>
        <p:spPr>
          <a:xfrm>
            <a:off x="8412480" y="4297680"/>
            <a:ext cx="2743200" cy="1371600"/>
          </a:xfrm>
          <a:prstGeom prst="rect">
            <a:avLst/>
          </a:prstGeom>
          <a:noFill/>
          <a:ln/>
        </p:spPr>
        <p:txBody>
          <a:bodyPr wrap="square" lIns="0" tIns="0" rIns="0" bIns="0" rtlCol="0" anchor="t"/>
          <a:lstStyle/>
          <a:p>
            <a:pPr indent="0" marL="0">
              <a:buNone/>
            </a:pPr>
            <a:r>
              <a:rPr lang="en-US" sz="1500" dirty="0">
                <a:solidFill>
                  <a:schemeClr val="tx1"/>
                </a:solidFill>
              </a:rPr>
              <a:t>Most expect quick speech, clean audio, an app install and confidence with technology.</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OUR USERS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The older adult is the principal</a:t>
            </a:r>
            <a:endParaRPr lang="en-US" sz="3600" dirty="0"/>
          </a:p>
        </p:txBody>
      </p:sp>
      <p:sp>
        <p:nvSpPr>
          <p:cNvPr id="4" name="Text 2"/>
          <p:cNvSpPr txBox="1"/>
          <p:nvPr/>
        </p:nvSpPr>
        <p:spPr>
          <a:xfrm>
            <a:off x="548640" y="1828800"/>
            <a:ext cx="4754880" cy="18288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EWOK serves </a:t>
            </a:r>
            <a:pPr indent="0" marL="0">
              <a:buNone/>
            </a:pPr>
            <a:r>
              <a:rPr lang="en-US" sz="2200" i="1" dirty="0">
                <a:solidFill>
                  <a:schemeClr val="tx1"/>
                </a:solidFill>
                <a:latin typeface="Cambria" pitchFamily="34" charset="0"/>
                <a:ea typeface="Cambria" pitchFamily="34" charset="-122"/>
                <a:cs typeface="Cambria" pitchFamily="34" charset="-120"/>
              </a:rPr>
              <a:t>their</a:t>
            </a:r>
            <a:pPr indent="0" marL="0">
              <a:buNone/>
            </a:pPr>
            <a:r>
              <a:rPr lang="en-US" sz="2200" dirty="0">
                <a:solidFill>
                  <a:schemeClr val="tx1"/>
                </a:solidFill>
                <a:latin typeface="Cambria" pitchFamily="34" charset="0"/>
                <a:ea typeface="Cambria" pitchFamily="34" charset="-122"/>
                <a:cs typeface="Cambria" pitchFamily="34" charset="-120"/>
              </a:rPr>
              <a:t> goals, even when a family member sets it up. No infantilizing defaults; settings they can see and change.</a:t>
            </a:r>
            <a:endParaRPr lang="en-US" sz="2200" dirty="0"/>
          </a:p>
        </p:txBody>
      </p:sp>
      <p:sp>
        <p:nvSpPr>
          <p:cNvPr id="5" name="Text 3"/>
          <p:cNvSpPr txBox="1"/>
          <p:nvPr/>
        </p:nvSpPr>
        <p:spPr>
          <a:xfrm>
            <a:off x="548640" y="4023360"/>
            <a:ext cx="457200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We design for</a:t>
            </a:r>
            <a:endParaRPr lang="en-US" sz="1400" dirty="0"/>
          </a:p>
        </p:txBody>
      </p:sp>
      <p:sp>
        <p:nvSpPr>
          <p:cNvPr id="6" name="Text 4"/>
          <p:cNvSpPr txBox="1"/>
          <p:nvPr/>
        </p:nvSpPr>
        <p:spPr>
          <a:xfrm>
            <a:off x="548640" y="4434840"/>
            <a:ext cx="4389120" cy="731520"/>
          </a:xfrm>
          <a:prstGeom prst="rect">
            <a:avLst/>
          </a:prstGeom>
          <a:noFill/>
          <a:ln/>
        </p:spPr>
        <p:txBody>
          <a:bodyPr wrap="square" lIns="0" tIns="0" rIns="0" bIns="0" rtlCol="0" anchor="t"/>
          <a:lstStyle/>
          <a:p>
            <a:pPr indent="0" marL="0">
              <a:buNone/>
            </a:pPr>
            <a:r>
              <a:rPr lang="en-US" sz="1500" dirty="0">
                <a:solidFill>
                  <a:schemeClr val="tx1"/>
                </a:solidFill>
              </a:rPr>
              <a:t>Every design choice that follows comes from these four realities.</a:t>
            </a:r>
            <a:endParaRPr lang="en-US" sz="1500" dirty="0"/>
          </a:p>
        </p:txBody>
      </p:sp>
      <p:sp>
        <p:nvSpPr>
          <p:cNvPr id="7" name="user trait 1"/>
          <p:cNvSpPr/>
          <p:nvPr/>
        </p:nvSpPr>
        <p:spPr>
          <a:xfrm>
            <a:off x="5852160" y="1828800"/>
            <a:ext cx="2743200" cy="1828800"/>
          </a:xfrm>
          <a:prstGeom prst="rect">
            <a:avLst/>
          </a:prstGeom>
          <a:solidFill>
            <a:schemeClr val="bg2"/>
          </a:solidFill>
          <a:ln/>
        </p:spPr>
      </p:sp>
      <p:sp>
        <p:nvSpPr>
          <p:cNvPr id="8" name="badge LuMic"/>
          <p:cNvSpPr/>
          <p:nvPr/>
        </p:nvSpPr>
        <p:spPr>
          <a:xfrm>
            <a:off x="6172200" y="2103120"/>
            <a:ext cx="640080" cy="640080"/>
          </a:xfrm>
          <a:prstGeom prst="ellipse">
            <a:avLst/>
          </a:prstGeom>
          <a:solidFill>
            <a:schemeClr val="bg1"/>
          </a:solidFill>
          <a:ln/>
        </p:spPr>
      </p:sp>
      <p:pic>
        <p:nvPicPr>
          <p:cNvPr id="9" name="Image 0" descr="Mic icon">    </p:cNvPr>
          <p:cNvPicPr>
            <a:picLocks noChangeAspect="1"/>
          </p:cNvPicPr>
          <p:nvPr/>
        </p:nvPicPr>
        <p:blipFill>
          <a:blip r:embed="rId1"/>
          <a:stretch>
            <a:fillRect/>
          </a:stretch>
        </p:blipFill>
        <p:spPr>
          <a:xfrm>
            <a:off x="6332220" y="2263140"/>
            <a:ext cx="320040" cy="320040"/>
          </a:xfrm>
          <a:prstGeom prst="rect">
            <a:avLst/>
          </a:prstGeom>
        </p:spPr>
      </p:pic>
      <p:sp>
        <p:nvSpPr>
          <p:cNvPr id="10" name="Text 7"/>
          <p:cNvSpPr txBox="1"/>
          <p:nvPr/>
        </p:nvSpPr>
        <p:spPr>
          <a:xfrm>
            <a:off x="6172200" y="2880360"/>
            <a:ext cx="2194560" cy="685800"/>
          </a:xfrm>
          <a:prstGeom prst="rect">
            <a:avLst/>
          </a:prstGeom>
          <a:noFill/>
          <a:ln/>
        </p:spPr>
        <p:txBody>
          <a:bodyPr wrap="square" lIns="0" tIns="0" rIns="0" bIns="0" rtlCol="0" anchor="t"/>
          <a:lstStyle/>
          <a:p>
            <a:pPr indent="0" marL="0">
              <a:buNone/>
            </a:pPr>
            <a:r>
              <a:rPr lang="en-US" sz="1600" b="1" dirty="0">
                <a:solidFill>
                  <a:schemeClr val="tx1"/>
                </a:solidFill>
              </a:rPr>
              <a:t>Slow speech, long pauses, accents</a:t>
            </a:r>
            <a:endParaRPr lang="en-US" sz="1600" dirty="0"/>
          </a:p>
        </p:txBody>
      </p:sp>
      <p:sp>
        <p:nvSpPr>
          <p:cNvPr id="11" name="user trait 2"/>
          <p:cNvSpPr/>
          <p:nvPr/>
        </p:nvSpPr>
        <p:spPr>
          <a:xfrm>
            <a:off x="8823960" y="1828800"/>
            <a:ext cx="2743200" cy="1828800"/>
          </a:xfrm>
          <a:prstGeom prst="rect">
            <a:avLst/>
          </a:prstGeom>
          <a:solidFill>
            <a:schemeClr val="bg2"/>
          </a:solidFill>
          <a:ln/>
        </p:spPr>
      </p:sp>
      <p:sp>
        <p:nvSpPr>
          <p:cNvPr id="12" name="badge LuEar"/>
          <p:cNvSpPr/>
          <p:nvPr/>
        </p:nvSpPr>
        <p:spPr>
          <a:xfrm>
            <a:off x="9144000" y="2103120"/>
            <a:ext cx="640080" cy="640080"/>
          </a:xfrm>
          <a:prstGeom prst="ellipse">
            <a:avLst/>
          </a:prstGeom>
          <a:solidFill>
            <a:schemeClr val="bg1"/>
          </a:solidFill>
          <a:ln/>
        </p:spPr>
      </p:sp>
      <p:pic>
        <p:nvPicPr>
          <p:cNvPr id="13" name="Image 1" descr="Ear icon">    </p:cNvPr>
          <p:cNvPicPr>
            <a:picLocks noChangeAspect="1"/>
          </p:cNvPicPr>
          <p:nvPr/>
        </p:nvPicPr>
        <p:blipFill>
          <a:blip r:embed="rId2"/>
          <a:stretch>
            <a:fillRect/>
          </a:stretch>
        </p:blipFill>
        <p:spPr>
          <a:xfrm>
            <a:off x="9304020" y="2263140"/>
            <a:ext cx="320040" cy="320040"/>
          </a:xfrm>
          <a:prstGeom prst="rect">
            <a:avLst/>
          </a:prstGeom>
        </p:spPr>
      </p:pic>
      <p:sp>
        <p:nvSpPr>
          <p:cNvPr id="14" name="Text 10"/>
          <p:cNvSpPr txBox="1"/>
          <p:nvPr/>
        </p:nvSpPr>
        <p:spPr>
          <a:xfrm>
            <a:off x="9144000" y="2880360"/>
            <a:ext cx="2194560" cy="685800"/>
          </a:xfrm>
          <a:prstGeom prst="rect">
            <a:avLst/>
          </a:prstGeom>
          <a:noFill/>
          <a:ln/>
        </p:spPr>
        <p:txBody>
          <a:bodyPr wrap="square" lIns="0" tIns="0" rIns="0" bIns="0" rtlCol="0" anchor="t"/>
          <a:lstStyle/>
          <a:p>
            <a:pPr indent="0" marL="0">
              <a:buNone/>
            </a:pPr>
            <a:r>
              <a:rPr lang="en-US" sz="1600" b="1" dirty="0">
                <a:solidFill>
                  <a:schemeClr val="tx1"/>
                </a:solidFill>
              </a:rPr>
              <a:t>Hearing aids and low vision</a:t>
            </a:r>
            <a:endParaRPr lang="en-US" sz="1600" dirty="0"/>
          </a:p>
        </p:txBody>
      </p:sp>
      <p:sp>
        <p:nvSpPr>
          <p:cNvPr id="15" name="user trait 3"/>
          <p:cNvSpPr/>
          <p:nvPr/>
        </p:nvSpPr>
        <p:spPr>
          <a:xfrm>
            <a:off x="5852160" y="3886200"/>
            <a:ext cx="2743200" cy="1828800"/>
          </a:xfrm>
          <a:prstGeom prst="rect">
            <a:avLst/>
          </a:prstGeom>
          <a:solidFill>
            <a:schemeClr val="bg2"/>
          </a:solidFill>
          <a:ln/>
        </p:spPr>
      </p:sp>
      <p:sp>
        <p:nvSpPr>
          <p:cNvPr id="16" name="badge LuHourglass"/>
          <p:cNvSpPr/>
          <p:nvPr/>
        </p:nvSpPr>
        <p:spPr>
          <a:xfrm>
            <a:off x="6172200" y="4160520"/>
            <a:ext cx="640080" cy="640080"/>
          </a:xfrm>
          <a:prstGeom prst="ellipse">
            <a:avLst/>
          </a:prstGeom>
          <a:solidFill>
            <a:schemeClr val="bg1"/>
          </a:solidFill>
          <a:ln/>
        </p:spPr>
      </p:sp>
      <p:pic>
        <p:nvPicPr>
          <p:cNvPr id="17" name="Image 2" descr="Hourglass icon">    </p:cNvPr>
          <p:cNvPicPr>
            <a:picLocks noChangeAspect="1"/>
          </p:cNvPicPr>
          <p:nvPr/>
        </p:nvPicPr>
        <p:blipFill>
          <a:blip r:embed="rId3"/>
          <a:stretch>
            <a:fillRect/>
          </a:stretch>
        </p:blipFill>
        <p:spPr>
          <a:xfrm>
            <a:off x="6332220" y="4320540"/>
            <a:ext cx="320040" cy="320040"/>
          </a:xfrm>
          <a:prstGeom prst="rect">
            <a:avLst/>
          </a:prstGeom>
        </p:spPr>
      </p:pic>
      <p:sp>
        <p:nvSpPr>
          <p:cNvPr id="18" name="Text 13"/>
          <p:cNvSpPr txBox="1"/>
          <p:nvPr/>
        </p:nvSpPr>
        <p:spPr>
          <a:xfrm>
            <a:off x="6172200" y="4937760"/>
            <a:ext cx="2194560" cy="685800"/>
          </a:xfrm>
          <a:prstGeom prst="rect">
            <a:avLst/>
          </a:prstGeom>
          <a:noFill/>
          <a:ln/>
        </p:spPr>
        <p:txBody>
          <a:bodyPr wrap="square" lIns="0" tIns="0" rIns="0" bIns="0" rtlCol="0" anchor="t"/>
          <a:lstStyle/>
          <a:p>
            <a:pPr indent="0" marL="0">
              <a:buNone/>
            </a:pPr>
            <a:r>
              <a:rPr lang="en-US" sz="1600" b="1" dirty="0">
                <a:solidFill>
                  <a:schemeClr val="tx1"/>
                </a:solidFill>
              </a:rPr>
              <a:t>Low technical confidence</a:t>
            </a:r>
            <a:endParaRPr lang="en-US" sz="1600" dirty="0"/>
          </a:p>
        </p:txBody>
      </p:sp>
      <p:sp>
        <p:nvSpPr>
          <p:cNvPr id="19" name="user trait 4"/>
          <p:cNvSpPr/>
          <p:nvPr/>
        </p:nvSpPr>
        <p:spPr>
          <a:xfrm>
            <a:off x="8823960" y="3886200"/>
            <a:ext cx="2743200" cy="1828800"/>
          </a:xfrm>
          <a:prstGeom prst="rect">
            <a:avLst/>
          </a:prstGeom>
          <a:solidFill>
            <a:schemeClr val="bg2"/>
          </a:solidFill>
          <a:ln/>
        </p:spPr>
      </p:sp>
      <p:sp>
        <p:nvSpPr>
          <p:cNvPr id="20" name="badge LuPhone"/>
          <p:cNvSpPr/>
          <p:nvPr/>
        </p:nvSpPr>
        <p:spPr>
          <a:xfrm>
            <a:off x="9144000" y="4160520"/>
            <a:ext cx="640080" cy="640080"/>
          </a:xfrm>
          <a:prstGeom prst="ellipse">
            <a:avLst/>
          </a:prstGeom>
          <a:solidFill>
            <a:schemeClr val="bg1"/>
          </a:solidFill>
          <a:ln/>
        </p:spPr>
      </p:sp>
      <p:pic>
        <p:nvPicPr>
          <p:cNvPr id="21" name="Image 3" descr="Phone icon">    </p:cNvPr>
          <p:cNvPicPr>
            <a:picLocks noChangeAspect="1"/>
          </p:cNvPicPr>
          <p:nvPr/>
        </p:nvPicPr>
        <p:blipFill>
          <a:blip r:embed="rId4"/>
          <a:stretch>
            <a:fillRect/>
          </a:stretch>
        </p:blipFill>
        <p:spPr>
          <a:xfrm>
            <a:off x="9304020" y="4320540"/>
            <a:ext cx="320040" cy="320040"/>
          </a:xfrm>
          <a:prstGeom prst="rect">
            <a:avLst/>
          </a:prstGeom>
        </p:spPr>
      </p:pic>
      <p:sp>
        <p:nvSpPr>
          <p:cNvPr id="22" name="Text 16"/>
          <p:cNvSpPr txBox="1"/>
          <p:nvPr/>
        </p:nvSpPr>
        <p:spPr>
          <a:xfrm>
            <a:off x="9144000" y="4937760"/>
            <a:ext cx="2194560" cy="685800"/>
          </a:xfrm>
          <a:prstGeom prst="rect">
            <a:avLst/>
          </a:prstGeom>
          <a:noFill/>
          <a:ln/>
        </p:spPr>
        <p:txBody>
          <a:bodyPr wrap="square" lIns="0" tIns="0" rIns="0" bIns="0" rtlCol="0" anchor="t"/>
          <a:lstStyle/>
          <a:p>
            <a:pPr indent="0" marL="0">
              <a:buNone/>
            </a:pPr>
            <a:r>
              <a:rPr lang="en-US" sz="1600" b="1" dirty="0">
                <a:solidFill>
                  <a:schemeClr val="tx1"/>
                </a:solidFill>
              </a:rPr>
              <a:t>Won't install an app</a:t>
            </a:r>
            <a:endParaRPr lang="en-US" sz="16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THE SOLUTION</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Talk to EWOK like a person. It handles the rest.</a:t>
            </a:r>
            <a:endParaRPr lang="en-US" sz="3600" dirty="0"/>
          </a:p>
        </p:txBody>
      </p:sp>
      <p:sp>
        <p:nvSpPr>
          <p:cNvPr id="4" name="badge LuPhone"/>
          <p:cNvSpPr/>
          <p:nvPr/>
        </p:nvSpPr>
        <p:spPr>
          <a:xfrm>
            <a:off x="548640" y="2011680"/>
            <a:ext cx="914400" cy="914400"/>
          </a:xfrm>
          <a:prstGeom prst="ellipse">
            <a:avLst/>
          </a:prstGeom>
          <a:solidFill>
            <a:schemeClr val="bg2"/>
          </a:solidFill>
          <a:ln/>
        </p:spPr>
      </p:sp>
      <p:pic>
        <p:nvPicPr>
          <p:cNvPr id="5" name="Image 0" descr="Phone icon">    </p:cNvPr>
          <p:cNvPicPr>
            <a:picLocks noChangeAspect="1"/>
          </p:cNvPicPr>
          <p:nvPr/>
        </p:nvPicPr>
        <p:blipFill>
          <a:blip r:embed="rId1"/>
          <a:stretch>
            <a:fillRect/>
          </a:stretch>
        </p:blipFill>
        <p:spPr>
          <a:xfrm>
            <a:off x="777240" y="2240280"/>
            <a:ext cx="457200" cy="457200"/>
          </a:xfrm>
          <a:prstGeom prst="rect">
            <a:avLst/>
          </a:prstGeom>
        </p:spPr>
      </p:pic>
      <p:sp>
        <p:nvSpPr>
          <p:cNvPr id="6" name="Text 3"/>
          <p:cNvSpPr txBox="1"/>
          <p:nvPr/>
        </p:nvSpPr>
        <p:spPr>
          <a:xfrm>
            <a:off x="548640" y="3200400"/>
            <a:ext cx="2560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Phone call</a:t>
            </a:r>
            <a:endParaRPr lang="en-US" sz="2000" dirty="0"/>
          </a:p>
        </p:txBody>
      </p:sp>
      <p:sp>
        <p:nvSpPr>
          <p:cNvPr id="7" name="Text 4"/>
          <p:cNvSpPr txBox="1"/>
          <p:nvPr/>
        </p:nvSpPr>
        <p:spPr>
          <a:xfrm>
            <a:off x="548640" y="3749040"/>
            <a:ext cx="2514600" cy="1188720"/>
          </a:xfrm>
          <a:prstGeom prst="rect">
            <a:avLst/>
          </a:prstGeom>
          <a:noFill/>
          <a:ln/>
        </p:spPr>
        <p:txBody>
          <a:bodyPr wrap="square" lIns="0" tIns="0" rIns="0" bIns="0" rtlCol="0" anchor="t"/>
          <a:lstStyle/>
          <a:p>
            <a:pPr indent="0" marL="0">
              <a:buNone/>
            </a:pPr>
            <a:r>
              <a:rPr lang="en-US" sz="1500" dirty="0">
                <a:solidFill>
                  <a:schemeClr val="tx1"/>
                </a:solidFill>
              </a:rPr>
              <a:t>A Vapi number. No app, no install. Just dial.</a:t>
            </a:r>
            <a:endParaRPr lang="en-US" sz="1500" dirty="0"/>
          </a:p>
        </p:txBody>
      </p:sp>
      <p:sp>
        <p:nvSpPr>
          <p:cNvPr id="8" name="badge LuAudioLines"/>
          <p:cNvSpPr/>
          <p:nvPr/>
        </p:nvSpPr>
        <p:spPr>
          <a:xfrm>
            <a:off x="3364992" y="2011680"/>
            <a:ext cx="914400" cy="914400"/>
          </a:xfrm>
          <a:prstGeom prst="ellipse">
            <a:avLst/>
          </a:prstGeom>
          <a:solidFill>
            <a:schemeClr val="bg2"/>
          </a:solidFill>
          <a:ln/>
        </p:spPr>
      </p:sp>
      <p:pic>
        <p:nvPicPr>
          <p:cNvPr id="9" name="Image 1" descr="AudioLines icon">    </p:cNvPr>
          <p:cNvPicPr>
            <a:picLocks noChangeAspect="1"/>
          </p:cNvPicPr>
          <p:nvPr/>
        </p:nvPicPr>
        <p:blipFill>
          <a:blip r:embed="rId2"/>
          <a:stretch>
            <a:fillRect/>
          </a:stretch>
        </p:blipFill>
        <p:spPr>
          <a:xfrm>
            <a:off x="3593592" y="2240280"/>
            <a:ext cx="457200" cy="457200"/>
          </a:xfrm>
          <a:prstGeom prst="rect">
            <a:avLst/>
          </a:prstGeom>
        </p:spPr>
      </p:pic>
      <p:sp>
        <p:nvSpPr>
          <p:cNvPr id="10" name="Text 6"/>
          <p:cNvSpPr txBox="1"/>
          <p:nvPr/>
        </p:nvSpPr>
        <p:spPr>
          <a:xfrm>
            <a:off x="3364992" y="3200400"/>
            <a:ext cx="2560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Voice in the browser</a:t>
            </a:r>
            <a:endParaRPr lang="en-US" sz="2000" dirty="0"/>
          </a:p>
        </p:txBody>
      </p:sp>
      <p:sp>
        <p:nvSpPr>
          <p:cNvPr id="11" name="Text 7"/>
          <p:cNvSpPr txBox="1"/>
          <p:nvPr/>
        </p:nvSpPr>
        <p:spPr>
          <a:xfrm>
            <a:off x="3364992" y="3749040"/>
            <a:ext cx="2514600" cy="1188720"/>
          </a:xfrm>
          <a:prstGeom prst="rect">
            <a:avLst/>
          </a:prstGeom>
          <a:noFill/>
          <a:ln/>
        </p:spPr>
        <p:txBody>
          <a:bodyPr wrap="square" lIns="0" tIns="0" rIns="0" bIns="0" rtlCol="0" anchor="t"/>
          <a:lstStyle/>
          <a:p>
            <a:pPr indent="0" marL="0">
              <a:buNone/>
            </a:pPr>
            <a:r>
              <a:rPr lang="en-US" sz="1500" dirty="0">
                <a:solidFill>
                  <a:schemeClr val="tx1"/>
                </a:solidFill>
              </a:rPr>
              <a:t>ElevenLabs speech-to-text and text-to-speech, push to talk.</a:t>
            </a:r>
            <a:endParaRPr lang="en-US" sz="1500" dirty="0"/>
          </a:p>
        </p:txBody>
      </p:sp>
      <p:sp>
        <p:nvSpPr>
          <p:cNvPr id="12" name="badge LuMessageSquare"/>
          <p:cNvSpPr/>
          <p:nvPr/>
        </p:nvSpPr>
        <p:spPr>
          <a:xfrm>
            <a:off x="6181344" y="2011680"/>
            <a:ext cx="914400" cy="914400"/>
          </a:xfrm>
          <a:prstGeom prst="ellipse">
            <a:avLst/>
          </a:prstGeom>
          <a:solidFill>
            <a:schemeClr val="bg2"/>
          </a:solidFill>
          <a:ln/>
        </p:spPr>
      </p:sp>
      <p:pic>
        <p:nvPicPr>
          <p:cNvPr id="13" name="Image 2" descr="MessageSquare icon">    </p:cNvPr>
          <p:cNvPicPr>
            <a:picLocks noChangeAspect="1"/>
          </p:cNvPicPr>
          <p:nvPr/>
        </p:nvPicPr>
        <p:blipFill>
          <a:blip r:embed="rId3"/>
          <a:stretch>
            <a:fillRect/>
          </a:stretch>
        </p:blipFill>
        <p:spPr>
          <a:xfrm>
            <a:off x="6409944" y="2240280"/>
            <a:ext cx="457200" cy="457200"/>
          </a:xfrm>
          <a:prstGeom prst="rect">
            <a:avLst/>
          </a:prstGeom>
        </p:spPr>
      </p:pic>
      <p:sp>
        <p:nvSpPr>
          <p:cNvPr id="14" name="Text 9"/>
          <p:cNvSpPr txBox="1"/>
          <p:nvPr/>
        </p:nvSpPr>
        <p:spPr>
          <a:xfrm>
            <a:off x="6181344" y="3200400"/>
            <a:ext cx="2560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Web chat</a:t>
            </a:r>
            <a:endParaRPr lang="en-US" sz="2000" dirty="0"/>
          </a:p>
        </p:txBody>
      </p:sp>
      <p:sp>
        <p:nvSpPr>
          <p:cNvPr id="15" name="Text 10"/>
          <p:cNvSpPr txBox="1"/>
          <p:nvPr/>
        </p:nvSpPr>
        <p:spPr>
          <a:xfrm>
            <a:off x="6181344" y="3749040"/>
            <a:ext cx="2514600" cy="1188720"/>
          </a:xfrm>
          <a:prstGeom prst="rect">
            <a:avLst/>
          </a:prstGeom>
          <a:noFill/>
          <a:ln/>
        </p:spPr>
        <p:txBody>
          <a:bodyPr wrap="square" lIns="0" tIns="0" rIns="0" bIns="0" rtlCol="0" anchor="t"/>
          <a:lstStyle/>
          <a:p>
            <a:pPr indent="0" marL="0">
              <a:buNone/>
            </a:pPr>
            <a:r>
              <a:rPr lang="en-US" sz="1500" dirty="0">
                <a:solidFill>
                  <a:schemeClr val="tx1"/>
                </a:solidFill>
              </a:rPr>
              <a:t>A large-text alternative to voice, first-class.</a:t>
            </a:r>
            <a:endParaRPr lang="en-US" sz="1500" dirty="0"/>
          </a:p>
        </p:txBody>
      </p:sp>
      <p:sp>
        <p:nvSpPr>
          <p:cNvPr id="16" name="badge LuLayoutDashboard"/>
          <p:cNvSpPr/>
          <p:nvPr/>
        </p:nvSpPr>
        <p:spPr>
          <a:xfrm>
            <a:off x="8997696" y="2011680"/>
            <a:ext cx="914400" cy="914400"/>
          </a:xfrm>
          <a:prstGeom prst="ellipse">
            <a:avLst/>
          </a:prstGeom>
          <a:solidFill>
            <a:schemeClr val="bg2"/>
          </a:solidFill>
          <a:ln/>
        </p:spPr>
      </p:sp>
      <p:pic>
        <p:nvPicPr>
          <p:cNvPr id="17" name="Image 3" descr="LayoutDashboard icon">    </p:cNvPr>
          <p:cNvPicPr>
            <a:picLocks noChangeAspect="1"/>
          </p:cNvPicPr>
          <p:nvPr/>
        </p:nvPicPr>
        <p:blipFill>
          <a:blip r:embed="rId4"/>
          <a:stretch>
            <a:fillRect/>
          </a:stretch>
        </p:blipFill>
        <p:spPr>
          <a:xfrm>
            <a:off x="9226296" y="2240280"/>
            <a:ext cx="457200" cy="457200"/>
          </a:xfrm>
          <a:prstGeom prst="rect">
            <a:avLst/>
          </a:prstGeom>
        </p:spPr>
      </p:pic>
      <p:sp>
        <p:nvSpPr>
          <p:cNvPr id="18" name="Text 12"/>
          <p:cNvSpPr txBox="1"/>
          <p:nvPr/>
        </p:nvSpPr>
        <p:spPr>
          <a:xfrm>
            <a:off x="8997696" y="3200400"/>
            <a:ext cx="2560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Dashboard</a:t>
            </a:r>
            <a:endParaRPr lang="en-US" sz="2000" dirty="0"/>
          </a:p>
        </p:txBody>
      </p:sp>
      <p:sp>
        <p:nvSpPr>
          <p:cNvPr id="19" name="Text 13"/>
          <p:cNvSpPr txBox="1"/>
          <p:nvPr/>
        </p:nvSpPr>
        <p:spPr>
          <a:xfrm>
            <a:off x="8997696" y="3749040"/>
            <a:ext cx="2514600" cy="1188720"/>
          </a:xfrm>
          <a:prstGeom prst="rect">
            <a:avLst/>
          </a:prstGeom>
          <a:noFill/>
          <a:ln/>
        </p:spPr>
        <p:txBody>
          <a:bodyPr wrap="square" lIns="0" tIns="0" rIns="0" bIns="0" rtlCol="0" anchor="t"/>
          <a:lstStyle/>
          <a:p>
            <a:pPr indent="0" marL="0">
              <a:buNone/>
            </a:pPr>
            <a:r>
              <a:rPr lang="en-US" sz="1500" dirty="0">
                <a:solidFill>
                  <a:schemeClr val="tx1"/>
                </a:solidFill>
              </a:rPr>
              <a:t>Everything EWOK knows, in one place the person can read.</a:t>
            </a:r>
            <a:endParaRPr lang="en-US" sz="1500" dirty="0"/>
          </a:p>
        </p:txBody>
      </p:sp>
      <p:sp>
        <p:nvSpPr>
          <p:cNvPr id="20" name="same agent note"/>
          <p:cNvSpPr/>
          <p:nvPr/>
        </p:nvSpPr>
        <p:spPr>
          <a:xfrm>
            <a:off x="548640" y="5166360"/>
            <a:ext cx="11064240" cy="868680"/>
          </a:xfrm>
          <a:prstGeom prst="rect">
            <a:avLst/>
          </a:prstGeom>
          <a:solidFill>
            <a:schemeClr val="bg2"/>
          </a:solidFill>
          <a:ln/>
        </p:spPr>
      </p:sp>
      <p:sp>
        <p:nvSpPr>
          <p:cNvPr id="21" name="Text 15"/>
          <p:cNvSpPr txBox="1"/>
          <p:nvPr/>
        </p:nvSpPr>
        <p:spPr>
          <a:xfrm>
            <a:off x="868680" y="5166360"/>
            <a:ext cx="10515600" cy="868680"/>
          </a:xfrm>
          <a:prstGeom prst="rect">
            <a:avLst/>
          </a:prstGeom>
          <a:noFill/>
          <a:ln/>
        </p:spPr>
        <p:txBody>
          <a:bodyPr wrap="square" lIns="0" tIns="0" rIns="0" bIns="0" rtlCol="0" anchor="ctr"/>
          <a:lstStyle/>
          <a:p>
            <a:pPr indent="0" marL="0">
              <a:buNone/>
            </a:pPr>
            <a:r>
              <a:rPr lang="en-US" sz="1800" i="1" dirty="0">
                <a:solidFill>
                  <a:schemeClr val="accent1"/>
                </a:solidFill>
                <a:latin typeface="Cambria" pitchFamily="34" charset="0"/>
                <a:ea typeface="Cambria" pitchFamily="34" charset="-122"/>
                <a:cs typeface="Cambria" pitchFamily="34" charset="-120"/>
              </a:rPr>
              <a:t>Every channel reaches the same agent, the same memory and the same rules.</a:t>
            </a:r>
            <a:endParaRPr lang="en-US" sz="18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THE DASHBOARD</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Built for the older adult, not a caregiver console</a:t>
            </a:r>
            <a:endParaRPr lang="en-US" sz="3600" dirty="0"/>
          </a:p>
        </p:txBody>
      </p:sp>
      <p:sp>
        <p:nvSpPr>
          <p:cNvPr id="4" name="screenshot frame"/>
          <p:cNvSpPr/>
          <p:nvPr/>
        </p:nvSpPr>
        <p:spPr>
          <a:xfrm>
            <a:off x="548640" y="1783080"/>
            <a:ext cx="6400800" cy="4343400"/>
          </a:xfrm>
          <a:prstGeom prst="rect">
            <a:avLst/>
          </a:prstGeom>
          <a:solidFill>
            <a:schemeClr val="bg1"/>
          </a:solidFill>
          <a:ln w="12700">
            <a:solidFill>
              <a:srgbClr val="BDB29C"/>
            </a:solidFill>
            <a:prstDash val="solid"/>
          </a:ln>
        </p:spPr>
      </p:sp>
      <p:pic>
        <p:nvPicPr>
          <p:cNvPr id="5" name="Image 0" descr="EWOK dashboard: greeting, voice dial, Nessie bank connector">    </p:cNvPr>
          <p:cNvPicPr>
            <a:picLocks noChangeAspect="1"/>
          </p:cNvPicPr>
          <p:nvPr/>
        </p:nvPicPr>
        <p:blipFill>
          <a:blip r:embed="rId1"/>
          <a:stretch>
            <a:fillRect/>
          </a:stretch>
        </p:blipFill>
        <p:spPr>
          <a:xfrm>
            <a:off x="548640" y="1783080"/>
            <a:ext cx="6400800" cy="4343400"/>
          </a:xfrm>
          <a:prstGeom prst="rect">
            <a:avLst/>
          </a:prstGeom>
        </p:spPr>
      </p:pic>
      <p:sp>
        <p:nvSpPr>
          <p:cNvPr id="6" name="Text 3"/>
          <p:cNvSpPr txBox="1"/>
          <p:nvPr/>
        </p:nvSpPr>
        <p:spPr>
          <a:xfrm>
            <a:off x="7360920" y="1783080"/>
            <a:ext cx="4282135" cy="365760"/>
          </a:xfrm>
          <a:prstGeom prst="rect">
            <a:avLst/>
          </a:prstGeom>
          <a:noFill/>
          <a:ln/>
        </p:spPr>
        <p:txBody>
          <a:bodyPr wrap="square" lIns="0" tIns="0" rIns="0" bIns="0" rtlCol="0" anchor="t"/>
          <a:lstStyle/>
          <a:p>
            <a:pPr indent="0" marL="0">
              <a:buNone/>
            </a:pPr>
            <a:r>
              <a:rPr lang="en-US" sz="1700" b="1" dirty="0">
                <a:solidFill>
                  <a:schemeClr val="accent1"/>
                </a:solidFill>
              </a:rPr>
              <a:t>Greeting and clock</a:t>
            </a:r>
            <a:endParaRPr lang="en-US" sz="1700" dirty="0"/>
          </a:p>
        </p:txBody>
      </p:sp>
      <p:sp>
        <p:nvSpPr>
          <p:cNvPr id="7" name="Text 4"/>
          <p:cNvSpPr txBox="1"/>
          <p:nvPr/>
        </p:nvSpPr>
        <p:spPr>
          <a:xfrm>
            <a:off x="7360920" y="2148840"/>
            <a:ext cx="4282135" cy="685800"/>
          </a:xfrm>
          <a:prstGeom prst="rect">
            <a:avLst/>
          </a:prstGeom>
          <a:noFill/>
          <a:ln/>
        </p:spPr>
        <p:txBody>
          <a:bodyPr wrap="square" lIns="0" tIns="0" rIns="0" bIns="0" rtlCol="0" anchor="t"/>
          <a:lstStyle/>
          <a:p>
            <a:pPr indent="0" marL="0">
              <a:buNone/>
            </a:pPr>
            <a:r>
              <a:rPr lang="en-US" sz="1400" dirty="0">
                <a:solidFill>
                  <a:schemeClr val="tx1"/>
                </a:solidFill>
              </a:rPr>
              <a:t>"Hiya, Rishi" with the time and date for orientation.</a:t>
            </a:r>
            <a:endParaRPr lang="en-US" sz="1400" dirty="0"/>
          </a:p>
        </p:txBody>
      </p:sp>
      <p:sp>
        <p:nvSpPr>
          <p:cNvPr id="8" name="Text 5"/>
          <p:cNvSpPr txBox="1"/>
          <p:nvPr/>
        </p:nvSpPr>
        <p:spPr>
          <a:xfrm>
            <a:off x="7360920" y="2880360"/>
            <a:ext cx="4282135" cy="365760"/>
          </a:xfrm>
          <a:prstGeom prst="rect">
            <a:avLst/>
          </a:prstGeom>
          <a:noFill/>
          <a:ln/>
        </p:spPr>
        <p:txBody>
          <a:bodyPr wrap="square" lIns="0" tIns="0" rIns="0" bIns="0" rtlCol="0" anchor="t"/>
          <a:lstStyle/>
          <a:p>
            <a:pPr indent="0" marL="0">
              <a:buNone/>
            </a:pPr>
            <a:r>
              <a:rPr lang="en-US" sz="1700" b="1" dirty="0">
                <a:solidFill>
                  <a:schemeClr val="accent1"/>
                </a:solidFill>
              </a:rPr>
              <a:t>Voice dial</a:t>
            </a:r>
            <a:endParaRPr lang="en-US" sz="1700" dirty="0"/>
          </a:p>
        </p:txBody>
      </p:sp>
      <p:sp>
        <p:nvSpPr>
          <p:cNvPr id="9" name="Text 6"/>
          <p:cNvSpPr txBox="1"/>
          <p:nvPr/>
        </p:nvSpPr>
        <p:spPr>
          <a:xfrm>
            <a:off x="7360920" y="3246120"/>
            <a:ext cx="4282135" cy="685800"/>
          </a:xfrm>
          <a:prstGeom prst="rect">
            <a:avLst/>
          </a:prstGeom>
          <a:noFill/>
          <a:ln/>
        </p:spPr>
        <p:txBody>
          <a:bodyPr wrap="square" lIns="0" tIns="0" rIns="0" bIns="0" rtlCol="0" anchor="t"/>
          <a:lstStyle/>
          <a:p>
            <a:pPr indent="0" marL="0">
              <a:buNone/>
            </a:pPr>
            <a:r>
              <a:rPr lang="en-US" sz="1400" dirty="0">
                <a:solidFill>
                  <a:schemeClr val="tx1"/>
                </a:solidFill>
              </a:rPr>
              <a:t>Tap, speak at your own pace, tap Done. Cancel throws it away.</a:t>
            </a:r>
            <a:endParaRPr lang="en-US" sz="1400" dirty="0"/>
          </a:p>
        </p:txBody>
      </p:sp>
      <p:sp>
        <p:nvSpPr>
          <p:cNvPr id="10" name="Text 7"/>
          <p:cNvSpPr txBox="1"/>
          <p:nvPr/>
        </p:nvSpPr>
        <p:spPr>
          <a:xfrm>
            <a:off x="7360920" y="3977640"/>
            <a:ext cx="4282135" cy="365760"/>
          </a:xfrm>
          <a:prstGeom prst="rect">
            <a:avLst/>
          </a:prstGeom>
          <a:noFill/>
          <a:ln/>
        </p:spPr>
        <p:txBody>
          <a:bodyPr wrap="square" lIns="0" tIns="0" rIns="0" bIns="0" rtlCol="0" anchor="t"/>
          <a:lstStyle/>
          <a:p>
            <a:pPr indent="0" marL="0">
              <a:buNone/>
            </a:pPr>
            <a:r>
              <a:rPr lang="en-US" sz="1700" b="1" dirty="0">
                <a:solidFill>
                  <a:schemeClr val="accent1"/>
                </a:solidFill>
              </a:rPr>
              <a:t>Connectors</a:t>
            </a:r>
            <a:endParaRPr lang="en-US" sz="1700" dirty="0"/>
          </a:p>
        </p:txBody>
      </p:sp>
      <p:sp>
        <p:nvSpPr>
          <p:cNvPr id="11" name="Text 8"/>
          <p:cNvSpPr txBox="1"/>
          <p:nvPr/>
        </p:nvSpPr>
        <p:spPr>
          <a:xfrm>
            <a:off x="7360920" y="4343400"/>
            <a:ext cx="4282135" cy="685800"/>
          </a:xfrm>
          <a:prstGeom prst="rect">
            <a:avLst/>
          </a:prstGeom>
          <a:noFill/>
          <a:ln/>
        </p:spPr>
        <p:txBody>
          <a:bodyPr wrap="square" lIns="0" tIns="0" rIns="0" bIns="0" rtlCol="0" anchor="t"/>
          <a:lstStyle/>
          <a:p>
            <a:pPr indent="0" marL="0">
              <a:buNone/>
            </a:pPr>
            <a:r>
              <a:rPr lang="en-US" sz="1400" dirty="0">
                <a:solidFill>
                  <a:schemeClr val="tx1"/>
                </a:solidFill>
              </a:rPr>
              <a:t>Bank, health and calendar panels open beside the conversation.</a:t>
            </a:r>
            <a:endParaRPr lang="en-US" sz="1400" dirty="0"/>
          </a:p>
        </p:txBody>
      </p:sp>
      <p:sp>
        <p:nvSpPr>
          <p:cNvPr id="12" name="Text 9"/>
          <p:cNvSpPr txBox="1"/>
          <p:nvPr/>
        </p:nvSpPr>
        <p:spPr>
          <a:xfrm>
            <a:off x="7360920" y="5074920"/>
            <a:ext cx="4282135" cy="365760"/>
          </a:xfrm>
          <a:prstGeom prst="rect">
            <a:avLst/>
          </a:prstGeom>
          <a:noFill/>
          <a:ln/>
        </p:spPr>
        <p:txBody>
          <a:bodyPr wrap="square" lIns="0" tIns="0" rIns="0" bIns="0" rtlCol="0" anchor="t"/>
          <a:lstStyle/>
          <a:p>
            <a:pPr indent="0" marL="0">
              <a:buNone/>
            </a:pPr>
            <a:r>
              <a:rPr lang="en-US" sz="1700" b="1" dirty="0">
                <a:solidFill>
                  <a:schemeClr val="accent1"/>
                </a:solidFill>
              </a:rPr>
              <a:t>Labeled sample data</a:t>
            </a:r>
            <a:endParaRPr lang="en-US" sz="1700" dirty="0"/>
          </a:p>
        </p:txBody>
      </p:sp>
      <p:sp>
        <p:nvSpPr>
          <p:cNvPr id="13" name="Text 10"/>
          <p:cNvSpPr txBox="1"/>
          <p:nvPr/>
        </p:nvSpPr>
        <p:spPr>
          <a:xfrm>
            <a:off x="7360920" y="5440680"/>
            <a:ext cx="4282135" cy="685800"/>
          </a:xfrm>
          <a:prstGeom prst="rect">
            <a:avLst/>
          </a:prstGeom>
          <a:noFill/>
          <a:ln/>
        </p:spPr>
        <p:txBody>
          <a:bodyPr wrap="square" lIns="0" tIns="0" rIns="0" bIns="0" rtlCol="0" anchor="t"/>
          <a:lstStyle/>
          <a:p>
            <a:pPr indent="0" marL="0">
              <a:buNone/>
            </a:pPr>
            <a:r>
              <a:rPr lang="en-US" sz="1400" dirty="0">
                <a:solidFill>
                  <a:schemeClr val="tx1"/>
                </a:solidFill>
              </a:rPr>
              <a:t>Mock data is marked as mock, never presented as real.</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ACCESSIBILITY</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Patient by design</a:t>
            </a:r>
            <a:endParaRPr lang="en-US" sz="3600" dirty="0"/>
          </a:p>
        </p:txBody>
      </p:sp>
      <p:sp>
        <p:nvSpPr>
          <p:cNvPr id="4" name="badge LuMic"/>
          <p:cNvSpPr/>
          <p:nvPr/>
        </p:nvSpPr>
        <p:spPr>
          <a:xfrm>
            <a:off x="548640" y="1828800"/>
            <a:ext cx="685800" cy="685800"/>
          </a:xfrm>
          <a:prstGeom prst="ellipse">
            <a:avLst/>
          </a:prstGeom>
          <a:solidFill>
            <a:schemeClr val="bg2"/>
          </a:solidFill>
          <a:ln/>
        </p:spPr>
      </p:sp>
      <p:pic>
        <p:nvPicPr>
          <p:cNvPr id="5" name="Image 0" descr="Mic icon">    </p:cNvPr>
          <p:cNvPicPr>
            <a:picLocks noChangeAspect="1"/>
          </p:cNvPicPr>
          <p:nvPr/>
        </p:nvPicPr>
        <p:blipFill>
          <a:blip r:embed="rId1"/>
          <a:stretch>
            <a:fillRect/>
          </a:stretch>
        </p:blipFill>
        <p:spPr>
          <a:xfrm>
            <a:off x="720090" y="2000250"/>
            <a:ext cx="342900" cy="342900"/>
          </a:xfrm>
          <a:prstGeom prst="rect">
            <a:avLst/>
          </a:prstGeom>
        </p:spPr>
      </p:pic>
      <p:sp>
        <p:nvSpPr>
          <p:cNvPr id="6" name="Text 3"/>
          <p:cNvSpPr txBox="1"/>
          <p:nvPr/>
        </p:nvSpPr>
        <p:spPr>
          <a:xfrm>
            <a:off x="1463040" y="1810512"/>
            <a:ext cx="4480560" cy="411480"/>
          </a:xfrm>
          <a:prstGeom prst="rect">
            <a:avLst/>
          </a:prstGeom>
          <a:noFill/>
          <a:ln/>
        </p:spPr>
        <p:txBody>
          <a:bodyPr wrap="square" lIns="0" tIns="0" rIns="0" bIns="0" rtlCol="0" anchor="t"/>
          <a:lstStyle/>
          <a:p>
            <a:pPr indent="0" marL="0">
              <a:buNone/>
            </a:pPr>
            <a:r>
              <a:rPr lang="en-US" sz="1800" b="1" dirty="0">
                <a:solidFill>
                  <a:schemeClr val="tx1"/>
                </a:solidFill>
              </a:rPr>
              <a:t>Speak, don't type</a:t>
            </a:r>
            <a:endParaRPr lang="en-US" sz="1800" dirty="0"/>
          </a:p>
        </p:txBody>
      </p:sp>
      <p:sp>
        <p:nvSpPr>
          <p:cNvPr id="7" name="Text 4"/>
          <p:cNvSpPr txBox="1"/>
          <p:nvPr/>
        </p:nvSpPr>
        <p:spPr>
          <a:xfrm>
            <a:off x="1463040" y="2240280"/>
            <a:ext cx="4480560" cy="914400"/>
          </a:xfrm>
          <a:prstGeom prst="rect">
            <a:avLst/>
          </a:prstGeom>
          <a:noFill/>
          <a:ln/>
        </p:spPr>
        <p:txBody>
          <a:bodyPr wrap="square" lIns="0" tIns="0" rIns="0" bIns="0" rtlCol="0" anchor="t"/>
          <a:lstStyle/>
          <a:p>
            <a:pPr indent="0" marL="0">
              <a:buNone/>
            </a:pPr>
            <a:r>
              <a:rPr lang="en-US" sz="1400" dirty="0">
                <a:solidFill>
                  <a:schemeClr val="tx1"/>
                </a:solidFill>
              </a:rPr>
              <a:t>Voice on every channel, including a plain phone call. Streaming speech in and out for quick replies.</a:t>
            </a:r>
            <a:endParaRPr lang="en-US" sz="1400" dirty="0"/>
          </a:p>
        </p:txBody>
      </p:sp>
      <p:sp>
        <p:nvSpPr>
          <p:cNvPr id="8" name="badge LuHourglass"/>
          <p:cNvSpPr/>
          <p:nvPr/>
        </p:nvSpPr>
        <p:spPr>
          <a:xfrm>
            <a:off x="548640" y="3291840"/>
            <a:ext cx="685800" cy="685800"/>
          </a:xfrm>
          <a:prstGeom prst="ellipse">
            <a:avLst/>
          </a:prstGeom>
          <a:solidFill>
            <a:schemeClr val="bg2"/>
          </a:solidFill>
          <a:ln/>
        </p:spPr>
      </p:sp>
      <p:pic>
        <p:nvPicPr>
          <p:cNvPr id="9" name="Image 1" descr="Hourglass icon">    </p:cNvPr>
          <p:cNvPicPr>
            <a:picLocks noChangeAspect="1"/>
          </p:cNvPicPr>
          <p:nvPr/>
        </p:nvPicPr>
        <p:blipFill>
          <a:blip r:embed="rId2"/>
          <a:stretch>
            <a:fillRect/>
          </a:stretch>
        </p:blipFill>
        <p:spPr>
          <a:xfrm>
            <a:off x="720090" y="3463290"/>
            <a:ext cx="342900" cy="342900"/>
          </a:xfrm>
          <a:prstGeom prst="rect">
            <a:avLst/>
          </a:prstGeom>
        </p:spPr>
      </p:pic>
      <p:sp>
        <p:nvSpPr>
          <p:cNvPr id="10" name="Text 6"/>
          <p:cNvSpPr txBox="1"/>
          <p:nvPr/>
        </p:nvSpPr>
        <p:spPr>
          <a:xfrm>
            <a:off x="1463040" y="3273552"/>
            <a:ext cx="4480560" cy="411480"/>
          </a:xfrm>
          <a:prstGeom prst="rect">
            <a:avLst/>
          </a:prstGeom>
          <a:noFill/>
          <a:ln/>
        </p:spPr>
        <p:txBody>
          <a:bodyPr wrap="square" lIns="0" tIns="0" rIns="0" bIns="0" rtlCol="0" anchor="t"/>
          <a:lstStyle/>
          <a:p>
            <a:pPr indent="0" marL="0">
              <a:buNone/>
            </a:pPr>
            <a:r>
              <a:rPr lang="en-US" sz="1800" b="1" dirty="0">
                <a:solidFill>
                  <a:schemeClr val="tx1"/>
                </a:solidFill>
              </a:rPr>
              <a:t>Silence never feels like failure</a:t>
            </a:r>
            <a:endParaRPr lang="en-US" sz="1800" dirty="0"/>
          </a:p>
        </p:txBody>
      </p:sp>
      <p:sp>
        <p:nvSpPr>
          <p:cNvPr id="11" name="Text 7"/>
          <p:cNvSpPr txBox="1"/>
          <p:nvPr/>
        </p:nvSpPr>
        <p:spPr>
          <a:xfrm>
            <a:off x="1463040" y="3703320"/>
            <a:ext cx="4480560" cy="914400"/>
          </a:xfrm>
          <a:prstGeom prst="rect">
            <a:avLst/>
          </a:prstGeom>
          <a:noFill/>
          <a:ln/>
        </p:spPr>
        <p:txBody>
          <a:bodyPr wrap="square" lIns="0" tIns="0" rIns="0" bIns="0" rtlCol="0" anchor="t"/>
          <a:lstStyle/>
          <a:p>
            <a:pPr indent="0" marL="0">
              <a:buNone/>
            </a:pPr>
            <a:r>
              <a:rPr lang="en-US" sz="1400" dirty="0">
                <a:solidFill>
                  <a:schemeClr val="tx1"/>
                </a:solidFill>
              </a:rPr>
              <a:t>Spoken fillers like "One moment." and turn-taking tuned for slow speech and long pauses.</a:t>
            </a:r>
            <a:endParaRPr lang="en-US" sz="1400" dirty="0"/>
          </a:p>
        </p:txBody>
      </p:sp>
      <p:sp>
        <p:nvSpPr>
          <p:cNvPr id="12" name="badge LuUndo2"/>
          <p:cNvSpPr/>
          <p:nvPr/>
        </p:nvSpPr>
        <p:spPr>
          <a:xfrm>
            <a:off x="548640" y="4754880"/>
            <a:ext cx="685800" cy="685800"/>
          </a:xfrm>
          <a:prstGeom prst="ellipse">
            <a:avLst/>
          </a:prstGeom>
          <a:solidFill>
            <a:schemeClr val="bg2"/>
          </a:solidFill>
          <a:ln/>
        </p:spPr>
      </p:sp>
      <p:pic>
        <p:nvPicPr>
          <p:cNvPr id="13" name="Image 2" descr="Undo2 icon">    </p:cNvPr>
          <p:cNvPicPr>
            <a:picLocks noChangeAspect="1"/>
          </p:cNvPicPr>
          <p:nvPr/>
        </p:nvPicPr>
        <p:blipFill>
          <a:blip r:embed="rId3"/>
          <a:stretch>
            <a:fillRect/>
          </a:stretch>
        </p:blipFill>
        <p:spPr>
          <a:xfrm>
            <a:off x="720090" y="4926330"/>
            <a:ext cx="342900" cy="342900"/>
          </a:xfrm>
          <a:prstGeom prst="rect">
            <a:avLst/>
          </a:prstGeom>
        </p:spPr>
      </p:pic>
      <p:sp>
        <p:nvSpPr>
          <p:cNvPr id="14" name="Text 9"/>
          <p:cNvSpPr txBox="1"/>
          <p:nvPr/>
        </p:nvSpPr>
        <p:spPr>
          <a:xfrm>
            <a:off x="1463040" y="4736592"/>
            <a:ext cx="4480560" cy="411480"/>
          </a:xfrm>
          <a:prstGeom prst="rect">
            <a:avLst/>
          </a:prstGeom>
          <a:noFill/>
          <a:ln/>
        </p:spPr>
        <p:txBody>
          <a:bodyPr wrap="square" lIns="0" tIns="0" rIns="0" bIns="0" rtlCol="0" anchor="t"/>
          <a:lstStyle/>
          <a:p>
            <a:pPr indent="0" marL="0">
              <a:buNone/>
            </a:pPr>
            <a:r>
              <a:rPr lang="en-US" sz="1800" b="1" dirty="0">
                <a:solidFill>
                  <a:schemeClr val="tx1"/>
                </a:solidFill>
              </a:rPr>
              <a:t>One thing at a time</a:t>
            </a:r>
            <a:endParaRPr lang="en-US" sz="1800" dirty="0"/>
          </a:p>
        </p:txBody>
      </p:sp>
      <p:sp>
        <p:nvSpPr>
          <p:cNvPr id="15" name="Text 10"/>
          <p:cNvSpPr txBox="1"/>
          <p:nvPr/>
        </p:nvSpPr>
        <p:spPr>
          <a:xfrm>
            <a:off x="1463040" y="5166360"/>
            <a:ext cx="4480560" cy="914400"/>
          </a:xfrm>
          <a:prstGeom prst="rect">
            <a:avLst/>
          </a:prstGeom>
          <a:noFill/>
          <a:ln/>
        </p:spPr>
        <p:txBody>
          <a:bodyPr wrap="square" lIns="0" tIns="0" rIns="0" bIns="0" rtlCol="0" anchor="t"/>
          <a:lstStyle/>
          <a:p>
            <a:pPr indent="0" marL="0">
              <a:buNone/>
            </a:pPr>
            <a:r>
              <a:rPr lang="en-US" sz="1400" dirty="0">
                <a:solidFill>
                  <a:schemeClr val="tx1"/>
                </a:solidFill>
              </a:rPr>
              <a:t>One simple question when unsure, never five options. "Stop" and "undo" work instantly.</a:t>
            </a:r>
            <a:endParaRPr lang="en-US" sz="1400" dirty="0"/>
          </a:p>
        </p:txBody>
      </p:sp>
      <p:sp>
        <p:nvSpPr>
          <p:cNvPr id="16" name="badge LuType"/>
          <p:cNvSpPr/>
          <p:nvPr/>
        </p:nvSpPr>
        <p:spPr>
          <a:xfrm>
            <a:off x="6263640" y="1828800"/>
            <a:ext cx="685800" cy="685800"/>
          </a:xfrm>
          <a:prstGeom prst="ellipse">
            <a:avLst/>
          </a:prstGeom>
          <a:solidFill>
            <a:schemeClr val="bg2"/>
          </a:solidFill>
          <a:ln/>
        </p:spPr>
      </p:sp>
      <p:pic>
        <p:nvPicPr>
          <p:cNvPr id="17" name="Image 3" descr="Type icon">    </p:cNvPr>
          <p:cNvPicPr>
            <a:picLocks noChangeAspect="1"/>
          </p:cNvPicPr>
          <p:nvPr/>
        </p:nvPicPr>
        <p:blipFill>
          <a:blip r:embed="rId4"/>
          <a:stretch>
            <a:fillRect/>
          </a:stretch>
        </p:blipFill>
        <p:spPr>
          <a:xfrm>
            <a:off x="6435090" y="2000250"/>
            <a:ext cx="342900" cy="342900"/>
          </a:xfrm>
          <a:prstGeom prst="rect">
            <a:avLst/>
          </a:prstGeom>
        </p:spPr>
      </p:pic>
      <p:sp>
        <p:nvSpPr>
          <p:cNvPr id="18" name="Text 12"/>
          <p:cNvSpPr txBox="1"/>
          <p:nvPr/>
        </p:nvSpPr>
        <p:spPr>
          <a:xfrm>
            <a:off x="7178040" y="1810512"/>
            <a:ext cx="4480560" cy="411480"/>
          </a:xfrm>
          <a:prstGeom prst="rect">
            <a:avLst/>
          </a:prstGeom>
          <a:noFill/>
          <a:ln/>
        </p:spPr>
        <p:txBody>
          <a:bodyPr wrap="square" lIns="0" tIns="0" rIns="0" bIns="0" rtlCol="0" anchor="t"/>
          <a:lstStyle/>
          <a:p>
            <a:pPr indent="0" marL="0">
              <a:buNone/>
            </a:pPr>
            <a:r>
              <a:rPr lang="en-US" sz="1800" b="1" dirty="0">
                <a:solidFill>
                  <a:schemeClr val="tx1"/>
                </a:solidFill>
              </a:rPr>
              <a:t>Large text and AAA contrast</a:t>
            </a:r>
            <a:endParaRPr lang="en-US" sz="1800" dirty="0"/>
          </a:p>
        </p:txBody>
      </p:sp>
      <p:sp>
        <p:nvSpPr>
          <p:cNvPr id="19" name="Text 13"/>
          <p:cNvSpPr txBox="1"/>
          <p:nvPr/>
        </p:nvSpPr>
        <p:spPr>
          <a:xfrm>
            <a:off x="7178040" y="2240280"/>
            <a:ext cx="4480560" cy="914400"/>
          </a:xfrm>
          <a:prstGeom prst="rect">
            <a:avLst/>
          </a:prstGeom>
          <a:noFill/>
          <a:ln/>
        </p:spPr>
        <p:txBody>
          <a:bodyPr wrap="square" lIns="0" tIns="0" rIns="0" bIns="0" rtlCol="0" anchor="t"/>
          <a:lstStyle/>
          <a:p>
            <a:pPr indent="0" marL="0">
              <a:buNone/>
            </a:pPr>
            <a:r>
              <a:rPr lang="en-US" sz="1400" dirty="0">
                <a:solidFill>
                  <a:schemeClr val="tx1"/>
                </a:solidFill>
              </a:rPr>
              <a:t>Large-text chat is a first-class alternative. Design target: WCAG 2.2 AAA, 7:1 contrast.</a:t>
            </a:r>
            <a:endParaRPr lang="en-US" sz="1400" dirty="0"/>
          </a:p>
        </p:txBody>
      </p:sp>
      <p:sp>
        <p:nvSpPr>
          <p:cNvPr id="20" name="badge LuBrain"/>
          <p:cNvSpPr/>
          <p:nvPr/>
        </p:nvSpPr>
        <p:spPr>
          <a:xfrm>
            <a:off x="6263640" y="3291840"/>
            <a:ext cx="685800" cy="685800"/>
          </a:xfrm>
          <a:prstGeom prst="ellipse">
            <a:avLst/>
          </a:prstGeom>
          <a:solidFill>
            <a:schemeClr val="bg2"/>
          </a:solidFill>
          <a:ln/>
        </p:spPr>
      </p:sp>
      <p:pic>
        <p:nvPicPr>
          <p:cNvPr id="21" name="Image 4" descr="Brain icon">    </p:cNvPr>
          <p:cNvPicPr>
            <a:picLocks noChangeAspect="1"/>
          </p:cNvPicPr>
          <p:nvPr/>
        </p:nvPicPr>
        <p:blipFill>
          <a:blip r:embed="rId5"/>
          <a:stretch>
            <a:fillRect/>
          </a:stretch>
        </p:blipFill>
        <p:spPr>
          <a:xfrm>
            <a:off x="6435090" y="3463290"/>
            <a:ext cx="342900" cy="342900"/>
          </a:xfrm>
          <a:prstGeom prst="rect">
            <a:avLst/>
          </a:prstGeom>
        </p:spPr>
      </p:pic>
      <p:sp>
        <p:nvSpPr>
          <p:cNvPr id="22" name="Text 15"/>
          <p:cNvSpPr txBox="1"/>
          <p:nvPr/>
        </p:nvSpPr>
        <p:spPr>
          <a:xfrm>
            <a:off x="7178040" y="3273552"/>
            <a:ext cx="4480560" cy="411480"/>
          </a:xfrm>
          <a:prstGeom prst="rect">
            <a:avLst/>
          </a:prstGeom>
          <a:noFill/>
          <a:ln/>
        </p:spPr>
        <p:txBody>
          <a:bodyPr wrap="square" lIns="0" tIns="0" rIns="0" bIns="0" rtlCol="0" anchor="t"/>
          <a:lstStyle/>
          <a:p>
            <a:pPr indent="0" marL="0">
              <a:buNone/>
            </a:pPr>
            <a:r>
              <a:rPr lang="en-US" sz="1800" b="1" dirty="0">
                <a:solidFill>
                  <a:schemeClr val="tx1"/>
                </a:solidFill>
              </a:rPr>
              <a:t>Memory that restates context</a:t>
            </a:r>
            <a:endParaRPr lang="en-US" sz="1800" dirty="0"/>
          </a:p>
        </p:txBody>
      </p:sp>
      <p:sp>
        <p:nvSpPr>
          <p:cNvPr id="23" name="Text 16"/>
          <p:cNvSpPr txBox="1"/>
          <p:nvPr/>
        </p:nvSpPr>
        <p:spPr>
          <a:xfrm>
            <a:off x="7178040" y="3703320"/>
            <a:ext cx="4480560" cy="914400"/>
          </a:xfrm>
          <a:prstGeom prst="rect">
            <a:avLst/>
          </a:prstGeom>
          <a:noFill/>
          <a:ln/>
        </p:spPr>
        <p:txBody>
          <a:bodyPr wrap="square" lIns="0" tIns="0" rIns="0" bIns="0" rtlCol="0" anchor="t"/>
          <a:lstStyle/>
          <a:p>
            <a:pPr indent="0" marL="0">
              <a:buNone/>
            </a:pPr>
            <a:r>
              <a:rPr lang="en-US" sz="1400" dirty="0">
                <a:solidFill>
                  <a:schemeClr val="tx1"/>
                </a:solidFill>
              </a:rPr>
              <a:t>"Last time we were scheduling your eye appointment..." Viewable, correctable, deletable.</a:t>
            </a:r>
            <a:endParaRPr lang="en-US" sz="1400" dirty="0"/>
          </a:p>
        </p:txBody>
      </p:sp>
      <p:sp>
        <p:nvSpPr>
          <p:cNvPr id="24" name="voice tuning note"/>
          <p:cNvSpPr/>
          <p:nvPr/>
        </p:nvSpPr>
        <p:spPr>
          <a:xfrm>
            <a:off x="6263640" y="4754880"/>
            <a:ext cx="5349240" cy="1234440"/>
          </a:xfrm>
          <a:prstGeom prst="rect">
            <a:avLst/>
          </a:prstGeom>
          <a:solidFill>
            <a:schemeClr val="bg2"/>
          </a:solidFill>
          <a:ln/>
        </p:spPr>
      </p:sp>
      <p:sp>
        <p:nvSpPr>
          <p:cNvPr id="25" name="Text 18"/>
          <p:cNvSpPr txBox="1"/>
          <p:nvPr/>
        </p:nvSpPr>
        <p:spPr>
          <a:xfrm>
            <a:off x="6537960" y="4754880"/>
            <a:ext cx="4846320" cy="1234440"/>
          </a:xfrm>
          <a:prstGeom prst="rect">
            <a:avLst/>
          </a:prstGeom>
          <a:noFill/>
          <a:ln/>
        </p:spPr>
        <p:txBody>
          <a:bodyPr wrap="square" lIns="0" tIns="0" rIns="0" bIns="0" rtlCol="0" anchor="ctr"/>
          <a:lstStyle/>
          <a:p>
            <a:pPr indent="0" marL="0">
              <a:buNone/>
            </a:pPr>
            <a:r>
              <a:rPr lang="en-US" sz="1500" i="1" dirty="0">
                <a:solidFill>
                  <a:schemeClr val="accent1"/>
                </a:solidFill>
              </a:rPr>
              <a:t>English-only speech recognition and synthesis keep accents from drifting into other languages.</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SAFETY IS ACCESSIBILITY</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Friction where it matters, nowhere else</a:t>
            </a:r>
            <a:endParaRPr lang="en-US" sz="3600" dirty="0"/>
          </a:p>
        </p:txBody>
      </p:sp>
      <p:sp>
        <p:nvSpPr>
          <p:cNvPr id="4" name="tier Free"/>
          <p:cNvSpPr/>
          <p:nvPr/>
        </p:nvSpPr>
        <p:spPr>
          <a:xfrm>
            <a:off x="548640" y="4069080"/>
            <a:ext cx="2148840" cy="1965960"/>
          </a:xfrm>
          <a:prstGeom prst="rect">
            <a:avLst/>
          </a:prstGeom>
          <a:solidFill>
            <a:schemeClr val="bg2"/>
          </a:solidFill>
          <a:ln/>
        </p:spPr>
      </p:sp>
      <p:sp>
        <p:nvSpPr>
          <p:cNvPr id="5" name="Text 3"/>
          <p:cNvSpPr txBox="1"/>
          <p:nvPr/>
        </p:nvSpPr>
        <p:spPr>
          <a:xfrm>
            <a:off x="777240" y="4297680"/>
            <a:ext cx="173736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FREE</a:t>
            </a:r>
            <a:endParaRPr lang="en-US" sz="1300" dirty="0"/>
          </a:p>
        </p:txBody>
      </p:sp>
      <p:sp>
        <p:nvSpPr>
          <p:cNvPr id="6" name="Text 4"/>
          <p:cNvSpPr txBox="1"/>
          <p:nvPr/>
        </p:nvSpPr>
        <p:spPr>
          <a:xfrm>
            <a:off x="777240" y="4663440"/>
            <a:ext cx="1737360" cy="731520"/>
          </a:xfrm>
          <a:prstGeom prst="rect">
            <a:avLst/>
          </a:prstGeom>
          <a:noFill/>
          <a:ln/>
        </p:spPr>
        <p:txBody>
          <a:bodyPr wrap="square" lIns="0" tIns="0" rIns="0" bIns="0" rtlCol="0" anchor="t"/>
          <a:lstStyle/>
          <a:p>
            <a:pPr indent="0" marL="0">
              <a:buNone/>
            </a:pPr>
            <a:r>
              <a:rPr lang="en-US" sz="1600" b="1" dirty="0">
                <a:solidFill>
                  <a:schemeClr val="tx1"/>
                </a:solidFill>
              </a:rPr>
              <a:t>Reading and reminders</a:t>
            </a:r>
            <a:endParaRPr lang="en-US" sz="1600" dirty="0"/>
          </a:p>
        </p:txBody>
      </p:sp>
      <p:sp>
        <p:nvSpPr>
          <p:cNvPr id="7" name="tier Light"/>
          <p:cNvSpPr/>
          <p:nvPr/>
        </p:nvSpPr>
        <p:spPr>
          <a:xfrm>
            <a:off x="2880360" y="3291840"/>
            <a:ext cx="2148840" cy="2743200"/>
          </a:xfrm>
          <a:prstGeom prst="rect">
            <a:avLst/>
          </a:prstGeom>
          <a:solidFill>
            <a:schemeClr val="bg2"/>
          </a:solidFill>
          <a:ln/>
        </p:spPr>
      </p:sp>
      <p:sp>
        <p:nvSpPr>
          <p:cNvPr id="8" name="Text 6"/>
          <p:cNvSpPr txBox="1"/>
          <p:nvPr/>
        </p:nvSpPr>
        <p:spPr>
          <a:xfrm>
            <a:off x="3108960" y="3520440"/>
            <a:ext cx="173736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LIGHT</a:t>
            </a:r>
            <a:endParaRPr lang="en-US" sz="1300" dirty="0"/>
          </a:p>
        </p:txBody>
      </p:sp>
      <p:sp>
        <p:nvSpPr>
          <p:cNvPr id="9" name="Text 7"/>
          <p:cNvSpPr txBox="1"/>
          <p:nvPr/>
        </p:nvSpPr>
        <p:spPr>
          <a:xfrm>
            <a:off x="3108960" y="3886200"/>
            <a:ext cx="1737360" cy="731520"/>
          </a:xfrm>
          <a:prstGeom prst="rect">
            <a:avLst/>
          </a:prstGeom>
          <a:noFill/>
          <a:ln/>
        </p:spPr>
        <p:txBody>
          <a:bodyPr wrap="square" lIns="0" tIns="0" rIns="0" bIns="0" rtlCol="0" anchor="t"/>
          <a:lstStyle/>
          <a:p>
            <a:pPr indent="0" marL="0">
              <a:buNone/>
            </a:pPr>
            <a:r>
              <a:rPr lang="en-US" sz="1600" b="1" dirty="0">
                <a:solidFill>
                  <a:schemeClr val="tx1"/>
                </a:solidFill>
              </a:rPr>
              <a:t>Reversible, low-stakes actions</a:t>
            </a:r>
            <a:endParaRPr lang="en-US" sz="1600" dirty="0"/>
          </a:p>
        </p:txBody>
      </p:sp>
      <p:sp>
        <p:nvSpPr>
          <p:cNvPr id="10" name="Text 8"/>
          <p:cNvSpPr txBox="1"/>
          <p:nvPr/>
        </p:nvSpPr>
        <p:spPr>
          <a:xfrm>
            <a:off x="3108960" y="4663440"/>
            <a:ext cx="1737360" cy="1280160"/>
          </a:xfrm>
          <a:prstGeom prst="rect">
            <a:avLst/>
          </a:prstGeom>
          <a:noFill/>
          <a:ln/>
        </p:spPr>
        <p:txBody>
          <a:bodyPr wrap="square" lIns="0" tIns="0" rIns="0" bIns="0" rtlCol="0" anchor="t"/>
          <a:lstStyle/>
          <a:p>
            <a:pPr indent="0" marL="0">
              <a:buNone/>
            </a:pPr>
            <a:r>
              <a:rPr lang="en-US" sz="1400" dirty="0">
                <a:solidFill>
                  <a:schemeClr val="tx1"/>
                </a:solidFill>
              </a:rPr>
              <a:t>A quick spoken "yes" first.</a:t>
            </a:r>
            <a:endParaRPr lang="en-US" sz="1400" dirty="0"/>
          </a:p>
        </p:txBody>
      </p:sp>
      <p:sp>
        <p:nvSpPr>
          <p:cNvPr id="11" name="tier Strong"/>
          <p:cNvSpPr/>
          <p:nvPr/>
        </p:nvSpPr>
        <p:spPr>
          <a:xfrm>
            <a:off x="5212080" y="2514600"/>
            <a:ext cx="2148840" cy="3520440"/>
          </a:xfrm>
          <a:prstGeom prst="rect">
            <a:avLst/>
          </a:prstGeom>
          <a:solidFill>
            <a:schemeClr val="accent1"/>
          </a:solidFill>
          <a:ln/>
        </p:spPr>
      </p:sp>
      <p:sp>
        <p:nvSpPr>
          <p:cNvPr id="12" name="Text 10"/>
          <p:cNvSpPr txBox="1"/>
          <p:nvPr/>
        </p:nvSpPr>
        <p:spPr>
          <a:xfrm>
            <a:off x="5440680" y="2743200"/>
            <a:ext cx="1737360" cy="320040"/>
          </a:xfrm>
          <a:prstGeom prst="rect">
            <a:avLst/>
          </a:prstGeom>
          <a:noFill/>
          <a:ln/>
        </p:spPr>
        <p:txBody>
          <a:bodyPr wrap="square" lIns="0" tIns="0" rIns="0" bIns="0" rtlCol="0" anchor="t"/>
          <a:lstStyle/>
          <a:p>
            <a:pPr indent="0" marL="0">
              <a:buNone/>
            </a:pPr>
            <a:r>
              <a:rPr lang="en-US" sz="1300" b="1" spc="300" kern="0" dirty="0">
                <a:solidFill>
                  <a:schemeClr val="bg1"/>
                </a:solidFill>
              </a:rPr>
              <a:t>STRONG</a:t>
            </a:r>
            <a:endParaRPr lang="en-US" sz="1300" dirty="0"/>
          </a:p>
        </p:txBody>
      </p:sp>
      <p:sp>
        <p:nvSpPr>
          <p:cNvPr id="13" name="Text 11"/>
          <p:cNvSpPr txBox="1"/>
          <p:nvPr/>
        </p:nvSpPr>
        <p:spPr>
          <a:xfrm>
            <a:off x="5440680" y="3108960"/>
            <a:ext cx="1737360" cy="731520"/>
          </a:xfrm>
          <a:prstGeom prst="rect">
            <a:avLst/>
          </a:prstGeom>
          <a:noFill/>
          <a:ln/>
        </p:spPr>
        <p:txBody>
          <a:bodyPr wrap="square" lIns="0" tIns="0" rIns="0" bIns="0" rtlCol="0" anchor="t"/>
          <a:lstStyle/>
          <a:p>
            <a:pPr indent="0" marL="0">
              <a:buNone/>
            </a:pPr>
            <a:r>
              <a:rPr lang="en-US" sz="1600" b="1" dirty="0">
                <a:solidFill>
                  <a:schemeClr val="bg1"/>
                </a:solidFill>
              </a:rPr>
              <a:t>Money, identity, personal info</a:t>
            </a:r>
            <a:endParaRPr lang="en-US" sz="1600" dirty="0"/>
          </a:p>
        </p:txBody>
      </p:sp>
      <p:sp>
        <p:nvSpPr>
          <p:cNvPr id="14" name="Text 12"/>
          <p:cNvSpPr txBox="1"/>
          <p:nvPr/>
        </p:nvSpPr>
        <p:spPr>
          <a:xfrm>
            <a:off x="5440680" y="3886200"/>
            <a:ext cx="1737360" cy="2057400"/>
          </a:xfrm>
          <a:prstGeom prst="rect">
            <a:avLst/>
          </a:prstGeom>
          <a:noFill/>
          <a:ln/>
        </p:spPr>
        <p:txBody>
          <a:bodyPr wrap="square" lIns="0" tIns="0" rIns="0" bIns="0" rtlCol="0" anchor="t"/>
          <a:lstStyle/>
          <a:p>
            <a:pPr indent="0" marL="0">
              <a:buNone/>
            </a:pPr>
            <a:r>
              <a:rPr lang="en-US" sz="1400" dirty="0">
                <a:solidFill>
                  <a:schemeClr val="bg1"/>
                </a:solidFill>
              </a:rPr>
              <a:t>Caps, allowlists, cooling-off and a concrete confirmation.</a:t>
            </a:r>
            <a:endParaRPr lang="en-US" sz="1400" dirty="0"/>
          </a:p>
        </p:txBody>
      </p:sp>
      <p:sp>
        <p:nvSpPr>
          <p:cNvPr id="15" name="Text 13"/>
          <p:cNvSpPr txBox="1"/>
          <p:nvPr/>
        </p:nvSpPr>
        <p:spPr>
          <a:xfrm>
            <a:off x="7772400" y="1920240"/>
            <a:ext cx="384048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STATE THE CONSEQUENCE</a:t>
            </a:r>
            <a:endParaRPr lang="en-US" sz="1200" dirty="0"/>
          </a:p>
        </p:txBody>
      </p:sp>
      <p:sp>
        <p:nvSpPr>
          <p:cNvPr id="16" name="confirmation quote"/>
          <p:cNvSpPr/>
          <p:nvPr/>
        </p:nvSpPr>
        <p:spPr>
          <a:xfrm>
            <a:off x="7772400" y="2377440"/>
            <a:ext cx="3840480" cy="2194560"/>
          </a:xfrm>
          <a:prstGeom prst="rect">
            <a:avLst/>
          </a:prstGeom>
          <a:solidFill>
            <a:schemeClr val="tx1"/>
          </a:solidFill>
          <a:ln/>
        </p:spPr>
      </p:sp>
      <p:sp>
        <p:nvSpPr>
          <p:cNvPr id="17" name="Text 15"/>
          <p:cNvSpPr txBox="1"/>
          <p:nvPr/>
        </p:nvSpPr>
        <p:spPr>
          <a:xfrm>
            <a:off x="8092440" y="2377440"/>
            <a:ext cx="3246120" cy="219456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“This pays $240 to Comcast from your checking account tomorrow.”</a:t>
            </a:r>
            <a:endParaRPr lang="en-US" sz="2200" dirty="0"/>
          </a:p>
        </p:txBody>
      </p:sp>
      <p:sp>
        <p:nvSpPr>
          <p:cNvPr id="18" name="Text 16"/>
          <p:cNvSpPr txBox="1"/>
          <p:nvPr/>
        </p:nvSpPr>
        <p:spPr>
          <a:xfrm>
            <a:off x="7772400" y="4800600"/>
            <a:ext cx="3840480" cy="1188720"/>
          </a:xfrm>
          <a:prstGeom prst="rect">
            <a:avLst/>
          </a:prstGeom>
          <a:noFill/>
          <a:ln/>
        </p:spPr>
        <p:txBody>
          <a:bodyPr wrap="square" lIns="0" tIns="0" rIns="0" bIns="0" rtlCol="0" anchor="t"/>
          <a:lstStyle/>
          <a:p>
            <a:pPr indent="0" marL="0">
              <a:buNone/>
            </a:pPr>
            <a:r>
              <a:rPr lang="en-US" sz="1500" dirty="0">
                <a:solidFill>
                  <a:schemeClr val="tx1"/>
                </a:solidFill>
              </a:rPr>
              <a:t>Not </a:t>
            </a:r>
            <a:pPr indent="0" marL="0">
              <a:buNone/>
            </a:pPr>
            <a:r>
              <a:rPr lang="en-US" sz="1500" b="1" dirty="0">
                <a:solidFill>
                  <a:schemeClr val="tx1"/>
                </a:solidFill>
              </a:rPr>
              <a:t>"Approve action?"</a:t>
            </a:r>
            <a:pPr indent="0" marL="0">
              <a:buNone/>
            </a:pPr>
            <a:r>
              <a:rPr lang="en-US" sz="1500" dirty="0">
                <a:solidFill>
                  <a:schemeClr val="tx1"/>
                </a:solidFill>
              </a:rPr>
              <a:t> Heavy prompts are saved for what matters, so confirmation fatigue doesn't set in.</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4"/>
                </a:solidFill>
              </a:rPr>
              <a:t>THE POLICY LAYER</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bg1"/>
                </a:solidFill>
              </a:rPr>
              <a:t>Rules the model can't talk its way around</a:t>
            </a:r>
            <a:endParaRPr lang="en-US" sz="3600" dirty="0"/>
          </a:p>
        </p:txBody>
      </p:sp>
      <p:sp>
        <p:nvSpPr>
          <p:cNvPr id="4" name="Text 2"/>
          <p:cNvSpPr txBox="1"/>
          <p:nvPr/>
        </p:nvSpPr>
        <p:spPr>
          <a:xfrm>
            <a:off x="548640" y="1691640"/>
            <a:ext cx="10515600" cy="731520"/>
          </a:xfrm>
          <a:prstGeom prst="rect">
            <a:avLst/>
          </a:prstGeom>
          <a:noFill/>
          <a:ln/>
        </p:spPr>
        <p:txBody>
          <a:bodyPr wrap="square" lIns="0" tIns="0" rIns="0" bIns="0" rtlCol="0" anchor="t"/>
          <a:lstStyle/>
          <a:p>
            <a:pPr indent="0" marL="0">
              <a:buNone/>
            </a:pPr>
            <a:r>
              <a:rPr lang="en-US" sz="1600" dirty="0">
                <a:solidFill>
                  <a:schemeClr val="bg2"/>
                </a:solidFill>
              </a:rPr>
              <a:t>Policy lives in our backend, outside the model. Every tool call passes through it, and the tier is attached to the tool, not inferred by the model.</a:t>
            </a:r>
            <a:endParaRPr lang="en-US" sz="1600" dirty="0"/>
          </a:p>
        </p:txBody>
      </p:sp>
      <p:sp>
        <p:nvSpPr>
          <p:cNvPr id="5" name="stat 1"/>
          <p:cNvSpPr/>
          <p:nvPr/>
        </p:nvSpPr>
        <p:spPr>
          <a:xfrm>
            <a:off x="548640" y="2651760"/>
            <a:ext cx="2606040" cy="2743200"/>
          </a:xfrm>
          <a:prstGeom prst="rect">
            <a:avLst/>
          </a:prstGeom>
          <a:solidFill>
            <a:schemeClr val="tx1"/>
          </a:solidFill>
          <a:ln/>
        </p:spPr>
      </p:sp>
      <p:sp>
        <p:nvSpPr>
          <p:cNvPr id="6" name="Text 4"/>
          <p:cNvSpPr txBox="1"/>
          <p:nvPr/>
        </p:nvSpPr>
        <p:spPr>
          <a:xfrm>
            <a:off x="822960" y="2926080"/>
            <a:ext cx="219456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$500</a:t>
            </a:r>
            <a:endParaRPr lang="en-US" sz="5400" dirty="0"/>
          </a:p>
        </p:txBody>
      </p:sp>
      <p:sp>
        <p:nvSpPr>
          <p:cNvPr id="7" name="Text 5"/>
          <p:cNvSpPr txBox="1"/>
          <p:nvPr/>
        </p:nvSpPr>
        <p:spPr>
          <a:xfrm>
            <a:off x="822960" y="4160520"/>
            <a:ext cx="2103120" cy="914400"/>
          </a:xfrm>
          <a:prstGeom prst="rect">
            <a:avLst/>
          </a:prstGeom>
          <a:noFill/>
          <a:ln/>
        </p:spPr>
        <p:txBody>
          <a:bodyPr wrap="square" lIns="0" tIns="0" rIns="0" bIns="0" rtlCol="0" anchor="t"/>
          <a:lstStyle/>
          <a:p>
            <a:pPr indent="0" marL="0">
              <a:buNone/>
            </a:pPr>
            <a:r>
              <a:rPr lang="en-US" sz="1600" dirty="0">
                <a:solidFill>
                  <a:schemeClr val="bg2"/>
                </a:solidFill>
              </a:rPr>
              <a:t>cap on any single payment</a:t>
            </a:r>
            <a:endParaRPr lang="en-US" sz="1600" dirty="0"/>
          </a:p>
        </p:txBody>
      </p:sp>
      <p:sp>
        <p:nvSpPr>
          <p:cNvPr id="8" name="stat 2"/>
          <p:cNvSpPr/>
          <p:nvPr/>
        </p:nvSpPr>
        <p:spPr>
          <a:xfrm>
            <a:off x="3364992" y="2651760"/>
            <a:ext cx="2606040" cy="2743200"/>
          </a:xfrm>
          <a:prstGeom prst="rect">
            <a:avLst/>
          </a:prstGeom>
          <a:solidFill>
            <a:schemeClr val="tx1"/>
          </a:solidFill>
          <a:ln/>
        </p:spPr>
      </p:sp>
      <p:sp>
        <p:nvSpPr>
          <p:cNvPr id="9" name="Text 7"/>
          <p:cNvSpPr txBox="1"/>
          <p:nvPr/>
        </p:nvSpPr>
        <p:spPr>
          <a:xfrm>
            <a:off x="3639312" y="2926080"/>
            <a:ext cx="219456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$1,000</a:t>
            </a:r>
            <a:endParaRPr lang="en-US" sz="5400" dirty="0"/>
          </a:p>
        </p:txBody>
      </p:sp>
      <p:sp>
        <p:nvSpPr>
          <p:cNvPr id="10" name="Text 8"/>
          <p:cNvSpPr txBox="1"/>
          <p:nvPr/>
        </p:nvSpPr>
        <p:spPr>
          <a:xfrm>
            <a:off x="3639312" y="4160520"/>
            <a:ext cx="2103120" cy="914400"/>
          </a:xfrm>
          <a:prstGeom prst="rect">
            <a:avLst/>
          </a:prstGeom>
          <a:noFill/>
          <a:ln/>
        </p:spPr>
        <p:txBody>
          <a:bodyPr wrap="square" lIns="0" tIns="0" rIns="0" bIns="0" rtlCol="0" anchor="t"/>
          <a:lstStyle/>
          <a:p>
            <a:pPr indent="0" marL="0">
              <a:buNone/>
            </a:pPr>
            <a:r>
              <a:rPr lang="en-US" sz="1600" dirty="0">
                <a:solidFill>
                  <a:schemeClr val="bg2"/>
                </a:solidFill>
              </a:rPr>
              <a:t>daily spending cap</a:t>
            </a:r>
            <a:endParaRPr lang="en-US" sz="1600" dirty="0"/>
          </a:p>
        </p:txBody>
      </p:sp>
      <p:sp>
        <p:nvSpPr>
          <p:cNvPr id="11" name="stat 3"/>
          <p:cNvSpPr/>
          <p:nvPr/>
        </p:nvSpPr>
        <p:spPr>
          <a:xfrm>
            <a:off x="6181344" y="2651760"/>
            <a:ext cx="2606040" cy="2743200"/>
          </a:xfrm>
          <a:prstGeom prst="rect">
            <a:avLst/>
          </a:prstGeom>
          <a:solidFill>
            <a:schemeClr val="tx1"/>
          </a:solidFill>
          <a:ln/>
        </p:spPr>
      </p:sp>
      <p:sp>
        <p:nvSpPr>
          <p:cNvPr id="12" name="Text 10"/>
          <p:cNvSpPr txBox="1"/>
          <p:nvPr/>
        </p:nvSpPr>
        <p:spPr>
          <a:xfrm>
            <a:off x="6455664" y="2926080"/>
            <a:ext cx="219456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24 hrs</a:t>
            </a:r>
            <a:endParaRPr lang="en-US" sz="5400" dirty="0"/>
          </a:p>
        </p:txBody>
      </p:sp>
      <p:sp>
        <p:nvSpPr>
          <p:cNvPr id="13" name="Text 11"/>
          <p:cNvSpPr txBox="1"/>
          <p:nvPr/>
        </p:nvSpPr>
        <p:spPr>
          <a:xfrm>
            <a:off x="6455664" y="4160520"/>
            <a:ext cx="2103120" cy="914400"/>
          </a:xfrm>
          <a:prstGeom prst="rect">
            <a:avLst/>
          </a:prstGeom>
          <a:noFill/>
          <a:ln/>
        </p:spPr>
        <p:txBody>
          <a:bodyPr wrap="square" lIns="0" tIns="0" rIns="0" bIns="0" rtlCol="0" anchor="t"/>
          <a:lstStyle/>
          <a:p>
            <a:pPr indent="0" marL="0">
              <a:buNone/>
            </a:pPr>
            <a:r>
              <a:rPr lang="en-US" sz="1600" dirty="0">
                <a:solidFill>
                  <a:schemeClr val="bg2"/>
                </a:solidFill>
              </a:rPr>
              <a:t>cooling-off for a new payee</a:t>
            </a:r>
            <a:endParaRPr lang="en-US" sz="1600" dirty="0"/>
          </a:p>
        </p:txBody>
      </p:sp>
      <p:sp>
        <p:nvSpPr>
          <p:cNvPr id="14" name="stat 4"/>
          <p:cNvSpPr/>
          <p:nvPr/>
        </p:nvSpPr>
        <p:spPr>
          <a:xfrm>
            <a:off x="8997696" y="2651760"/>
            <a:ext cx="2606040" cy="2743200"/>
          </a:xfrm>
          <a:prstGeom prst="rect">
            <a:avLst/>
          </a:prstGeom>
          <a:solidFill>
            <a:schemeClr val="tx1"/>
          </a:solidFill>
          <a:ln/>
        </p:spPr>
      </p:sp>
      <p:sp>
        <p:nvSpPr>
          <p:cNvPr id="15" name="Text 13"/>
          <p:cNvSpPr txBox="1"/>
          <p:nvPr/>
        </p:nvSpPr>
        <p:spPr>
          <a:xfrm>
            <a:off x="9272016" y="2926080"/>
            <a:ext cx="219456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0</a:t>
            </a:r>
            <a:endParaRPr lang="en-US" sz="5400" dirty="0"/>
          </a:p>
        </p:txBody>
      </p:sp>
      <p:sp>
        <p:nvSpPr>
          <p:cNvPr id="16" name="Text 14"/>
          <p:cNvSpPr txBox="1"/>
          <p:nvPr/>
        </p:nvSpPr>
        <p:spPr>
          <a:xfrm>
            <a:off x="9272016" y="4160520"/>
            <a:ext cx="2103120" cy="914400"/>
          </a:xfrm>
          <a:prstGeom prst="rect">
            <a:avLst/>
          </a:prstGeom>
          <a:noFill/>
          <a:ln/>
        </p:spPr>
        <p:txBody>
          <a:bodyPr wrap="square" lIns="0" tIns="0" rIns="0" bIns="0" rtlCol="0" anchor="t"/>
          <a:lstStyle/>
          <a:p>
            <a:pPr indent="0" marL="0">
              <a:buNone/>
            </a:pPr>
            <a:r>
              <a:rPr lang="en-US" sz="1600" dirty="0">
                <a:solidFill>
                  <a:schemeClr val="bg2"/>
                </a:solidFill>
              </a:rPr>
              <a:t>tools that can share a password or SSN</a:t>
            </a:r>
            <a:endParaRPr lang="en-US" sz="1600" dirty="0"/>
          </a:p>
        </p:txBody>
      </p:sp>
      <p:sp>
        <p:nvSpPr>
          <p:cNvPr id="17" name="Text 15"/>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500" i="1" dirty="0">
                <a:solidFill>
                  <a:schemeClr val="accent4"/>
                </a:solidFill>
              </a:rPr>
              <a:t>Plus a payee allowlist and single-use confirmation tokens. Passwords are safe by absence of capability.</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SCAM PROTECTION</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A trusted second opinion</a:t>
            </a:r>
            <a:endParaRPr lang="en-US" sz="3600" dirty="0"/>
          </a:p>
        </p:txBody>
      </p:sp>
      <p:sp>
        <p:nvSpPr>
          <p:cNvPr id="4" name="Text 2"/>
          <p:cNvSpPr txBox="1"/>
          <p:nvPr/>
        </p:nvSpPr>
        <p:spPr>
          <a:xfrm>
            <a:off x="548640" y="1737360"/>
            <a:ext cx="5120640" cy="914400"/>
          </a:xfrm>
          <a:prstGeom prst="rect">
            <a:avLst/>
          </a:prstGeom>
          <a:noFill/>
          <a:ln/>
        </p:spPr>
        <p:txBody>
          <a:bodyPr wrap="square" lIns="0" tIns="0" rIns="0" bIns="0" rtlCol="0" anchor="t"/>
          <a:lstStyle/>
          <a:p>
            <a:pPr indent="0" marL="0">
              <a:buNone/>
            </a:pPr>
            <a:r>
              <a:rPr lang="en-US" sz="1600" dirty="0">
                <a:solidFill>
                  <a:schemeClr val="tx1"/>
                </a:solidFill>
              </a:rPr>
              <a:t>All inbound email, text and web content is untrusted. Prompt injection is just a scam aimed at the agent.</a:t>
            </a:r>
            <a:endParaRPr lang="en-US" sz="1600" dirty="0"/>
          </a:p>
        </p:txBody>
      </p:sp>
      <p:sp>
        <p:nvSpPr>
          <p:cNvPr id="5" name="flag dot 1"/>
          <p:cNvSpPr/>
          <p:nvPr/>
        </p:nvSpPr>
        <p:spPr>
          <a:xfrm>
            <a:off x="548640" y="2898648"/>
            <a:ext cx="329184" cy="329184"/>
          </a:xfrm>
          <a:prstGeom prst="ellipse">
            <a:avLst/>
          </a:prstGeom>
          <a:solidFill>
            <a:schemeClr val="bg2"/>
          </a:solidFill>
          <a:ln/>
        </p:spPr>
      </p:sp>
      <p:pic>
        <p:nvPicPr>
          <p:cNvPr id="6" name="Image 0" descr="warning icon">    </p:cNvPr>
          <p:cNvPicPr>
            <a:picLocks noChangeAspect="1"/>
          </p:cNvPicPr>
          <p:nvPr/>
        </p:nvPicPr>
        <p:blipFill>
          <a:blip r:embed="rId1"/>
          <a:stretch>
            <a:fillRect/>
          </a:stretch>
        </p:blipFill>
        <p:spPr>
          <a:xfrm>
            <a:off x="603504" y="2953512"/>
            <a:ext cx="219456" cy="219456"/>
          </a:xfrm>
          <a:prstGeom prst="rect">
            <a:avLst/>
          </a:prstGeom>
        </p:spPr>
      </p:pic>
      <p:sp>
        <p:nvSpPr>
          <p:cNvPr id="7" name="Text 4"/>
          <p:cNvSpPr txBox="1"/>
          <p:nvPr/>
        </p:nvSpPr>
        <p:spPr>
          <a:xfrm>
            <a:off x="1051560" y="2834640"/>
            <a:ext cx="4572000" cy="457200"/>
          </a:xfrm>
          <a:prstGeom prst="rect">
            <a:avLst/>
          </a:prstGeom>
          <a:noFill/>
          <a:ln/>
        </p:spPr>
        <p:txBody>
          <a:bodyPr wrap="square" lIns="0" tIns="0" rIns="0" bIns="0" rtlCol="0" anchor="ctr"/>
          <a:lstStyle/>
          <a:p>
            <a:pPr indent="0" marL="0">
              <a:buNone/>
            </a:pPr>
            <a:r>
              <a:rPr lang="en-US" sz="1700" dirty="0">
                <a:solidFill>
                  <a:schemeClr val="tx1"/>
                </a:solidFill>
              </a:rPr>
              <a:t>Urgency and pressure</a:t>
            </a:r>
            <a:endParaRPr lang="en-US" sz="1700" dirty="0"/>
          </a:p>
        </p:txBody>
      </p:sp>
      <p:sp>
        <p:nvSpPr>
          <p:cNvPr id="8" name="flag dot 2"/>
          <p:cNvSpPr/>
          <p:nvPr/>
        </p:nvSpPr>
        <p:spPr>
          <a:xfrm>
            <a:off x="548640" y="3502152"/>
            <a:ext cx="329184" cy="329184"/>
          </a:xfrm>
          <a:prstGeom prst="ellipse">
            <a:avLst/>
          </a:prstGeom>
          <a:solidFill>
            <a:schemeClr val="bg2"/>
          </a:solidFill>
          <a:ln/>
        </p:spPr>
      </p:sp>
      <p:pic>
        <p:nvPicPr>
          <p:cNvPr id="9" name="Image 1" descr="warning icon">    </p:cNvPr>
          <p:cNvPicPr>
            <a:picLocks noChangeAspect="1"/>
          </p:cNvPicPr>
          <p:nvPr/>
        </p:nvPicPr>
        <p:blipFill>
          <a:blip r:embed="rId2"/>
          <a:stretch>
            <a:fillRect/>
          </a:stretch>
        </p:blipFill>
        <p:spPr>
          <a:xfrm>
            <a:off x="603504" y="3557016"/>
            <a:ext cx="219456" cy="219456"/>
          </a:xfrm>
          <a:prstGeom prst="rect">
            <a:avLst/>
          </a:prstGeom>
        </p:spPr>
      </p:pic>
      <p:sp>
        <p:nvSpPr>
          <p:cNvPr id="10" name="Text 6"/>
          <p:cNvSpPr txBox="1"/>
          <p:nvPr/>
        </p:nvSpPr>
        <p:spPr>
          <a:xfrm>
            <a:off x="1051560" y="3438144"/>
            <a:ext cx="4572000" cy="457200"/>
          </a:xfrm>
          <a:prstGeom prst="rect">
            <a:avLst/>
          </a:prstGeom>
          <a:noFill/>
          <a:ln/>
        </p:spPr>
        <p:txBody>
          <a:bodyPr wrap="square" lIns="0" tIns="0" rIns="0" bIns="0" rtlCol="0" anchor="ctr"/>
          <a:lstStyle/>
          <a:p>
            <a:pPr indent="0" marL="0">
              <a:buNone/>
            </a:pPr>
            <a:r>
              <a:rPr lang="en-US" sz="1700" dirty="0">
                <a:solidFill>
                  <a:schemeClr val="tx1"/>
                </a:solidFill>
              </a:rPr>
              <a:t>Gift cards and wire transfers</a:t>
            </a:r>
            <a:endParaRPr lang="en-US" sz="1700" dirty="0"/>
          </a:p>
        </p:txBody>
      </p:sp>
      <p:sp>
        <p:nvSpPr>
          <p:cNvPr id="11" name="flag dot 3"/>
          <p:cNvSpPr/>
          <p:nvPr/>
        </p:nvSpPr>
        <p:spPr>
          <a:xfrm>
            <a:off x="548640" y="4105656"/>
            <a:ext cx="329184" cy="329184"/>
          </a:xfrm>
          <a:prstGeom prst="ellipse">
            <a:avLst/>
          </a:prstGeom>
          <a:solidFill>
            <a:schemeClr val="bg2"/>
          </a:solidFill>
          <a:ln/>
        </p:spPr>
      </p:sp>
      <p:pic>
        <p:nvPicPr>
          <p:cNvPr id="12" name="Image 2" descr="warning icon">    </p:cNvPr>
          <p:cNvPicPr>
            <a:picLocks noChangeAspect="1"/>
          </p:cNvPicPr>
          <p:nvPr/>
        </p:nvPicPr>
        <p:blipFill>
          <a:blip r:embed="rId3"/>
          <a:stretch>
            <a:fillRect/>
          </a:stretch>
        </p:blipFill>
        <p:spPr>
          <a:xfrm>
            <a:off x="603504" y="4160520"/>
            <a:ext cx="219456" cy="219456"/>
          </a:xfrm>
          <a:prstGeom prst="rect">
            <a:avLst/>
          </a:prstGeom>
        </p:spPr>
      </p:pic>
      <p:sp>
        <p:nvSpPr>
          <p:cNvPr id="13" name="Text 8"/>
          <p:cNvSpPr txBox="1"/>
          <p:nvPr/>
        </p:nvSpPr>
        <p:spPr>
          <a:xfrm>
            <a:off x="1051560" y="4041648"/>
            <a:ext cx="4572000" cy="457200"/>
          </a:xfrm>
          <a:prstGeom prst="rect">
            <a:avLst/>
          </a:prstGeom>
          <a:noFill/>
          <a:ln/>
        </p:spPr>
        <p:txBody>
          <a:bodyPr wrap="square" lIns="0" tIns="0" rIns="0" bIns="0" rtlCol="0" anchor="ctr"/>
          <a:lstStyle/>
          <a:p>
            <a:pPr indent="0" marL="0">
              <a:buNone/>
            </a:pPr>
            <a:r>
              <a:rPr lang="en-US" sz="1700" dirty="0">
                <a:solidFill>
                  <a:schemeClr val="tx1"/>
                </a:solidFill>
              </a:rPr>
              <a:t>"Don't tell your family"</a:t>
            </a:r>
            <a:endParaRPr lang="en-US" sz="1700" dirty="0"/>
          </a:p>
        </p:txBody>
      </p:sp>
      <p:sp>
        <p:nvSpPr>
          <p:cNvPr id="14" name="flag dot 4"/>
          <p:cNvSpPr/>
          <p:nvPr/>
        </p:nvSpPr>
        <p:spPr>
          <a:xfrm>
            <a:off x="548640" y="4709160"/>
            <a:ext cx="329184" cy="329184"/>
          </a:xfrm>
          <a:prstGeom prst="ellipse">
            <a:avLst/>
          </a:prstGeom>
          <a:solidFill>
            <a:schemeClr val="bg2"/>
          </a:solidFill>
          <a:ln/>
        </p:spPr>
      </p:sp>
      <p:pic>
        <p:nvPicPr>
          <p:cNvPr id="15" name="Image 3" descr="warning icon">    </p:cNvPr>
          <p:cNvPicPr>
            <a:picLocks noChangeAspect="1"/>
          </p:cNvPicPr>
          <p:nvPr/>
        </p:nvPicPr>
        <p:blipFill>
          <a:blip r:embed="rId4"/>
          <a:stretch>
            <a:fillRect/>
          </a:stretch>
        </p:blipFill>
        <p:spPr>
          <a:xfrm>
            <a:off x="603504" y="4764024"/>
            <a:ext cx="219456" cy="219456"/>
          </a:xfrm>
          <a:prstGeom prst="rect">
            <a:avLst/>
          </a:prstGeom>
        </p:spPr>
      </p:pic>
      <p:sp>
        <p:nvSpPr>
          <p:cNvPr id="16" name="Text 10"/>
          <p:cNvSpPr txBox="1"/>
          <p:nvPr/>
        </p:nvSpPr>
        <p:spPr>
          <a:xfrm>
            <a:off x="1051560" y="4645152"/>
            <a:ext cx="4572000" cy="457200"/>
          </a:xfrm>
          <a:prstGeom prst="rect">
            <a:avLst/>
          </a:prstGeom>
          <a:noFill/>
          <a:ln/>
        </p:spPr>
        <p:txBody>
          <a:bodyPr wrap="square" lIns="0" tIns="0" rIns="0" bIns="0" rtlCol="0" anchor="ctr"/>
          <a:lstStyle/>
          <a:p>
            <a:pPr indent="0" marL="0">
              <a:buNone/>
            </a:pPr>
            <a:r>
              <a:rPr lang="en-US" sz="1700" dirty="0">
                <a:solidFill>
                  <a:schemeClr val="tx1"/>
                </a:solidFill>
              </a:rPr>
              <a:t>Credential requests</a:t>
            </a:r>
            <a:endParaRPr lang="en-US" sz="1700" dirty="0"/>
          </a:p>
        </p:txBody>
      </p:sp>
      <p:sp>
        <p:nvSpPr>
          <p:cNvPr id="17" name="flag dot 5"/>
          <p:cNvSpPr/>
          <p:nvPr/>
        </p:nvSpPr>
        <p:spPr>
          <a:xfrm>
            <a:off x="548640" y="5312664"/>
            <a:ext cx="329184" cy="329184"/>
          </a:xfrm>
          <a:prstGeom prst="ellipse">
            <a:avLst/>
          </a:prstGeom>
          <a:solidFill>
            <a:schemeClr val="bg2"/>
          </a:solidFill>
          <a:ln/>
        </p:spPr>
      </p:sp>
      <p:pic>
        <p:nvPicPr>
          <p:cNvPr id="18" name="Image 4" descr="warning icon">    </p:cNvPr>
          <p:cNvPicPr>
            <a:picLocks noChangeAspect="1"/>
          </p:cNvPicPr>
          <p:nvPr/>
        </p:nvPicPr>
        <p:blipFill>
          <a:blip r:embed="rId5"/>
          <a:stretch>
            <a:fillRect/>
          </a:stretch>
        </p:blipFill>
        <p:spPr>
          <a:xfrm>
            <a:off x="603504" y="5367528"/>
            <a:ext cx="219456" cy="219456"/>
          </a:xfrm>
          <a:prstGeom prst="rect">
            <a:avLst/>
          </a:prstGeom>
        </p:spPr>
      </p:pic>
      <p:sp>
        <p:nvSpPr>
          <p:cNvPr id="19" name="Text 12"/>
          <p:cNvSpPr txBox="1"/>
          <p:nvPr/>
        </p:nvSpPr>
        <p:spPr>
          <a:xfrm>
            <a:off x="1051560" y="5248656"/>
            <a:ext cx="4572000" cy="457200"/>
          </a:xfrm>
          <a:prstGeom prst="rect">
            <a:avLst/>
          </a:prstGeom>
          <a:noFill/>
          <a:ln/>
        </p:spPr>
        <p:txBody>
          <a:bodyPr wrap="square" lIns="0" tIns="0" rIns="0" bIns="0" rtlCol="0" anchor="ctr"/>
          <a:lstStyle/>
          <a:p>
            <a:pPr indent="0" marL="0">
              <a:buNone/>
            </a:pPr>
            <a:r>
              <a:rPr lang="en-US" sz="1700" dirty="0">
                <a:solidFill>
                  <a:schemeClr val="tx1"/>
                </a:solidFill>
              </a:rPr>
              <a:t>Impersonation</a:t>
            </a:r>
            <a:endParaRPr lang="en-US" sz="1700" dirty="0"/>
          </a:p>
        </p:txBody>
      </p:sp>
      <p:sp>
        <p:nvSpPr>
          <p:cNvPr id="20" name="scam quote"/>
          <p:cNvSpPr/>
          <p:nvPr/>
        </p:nvSpPr>
        <p:spPr>
          <a:xfrm>
            <a:off x="6309360" y="1737360"/>
            <a:ext cx="5303520" cy="2103120"/>
          </a:xfrm>
          <a:prstGeom prst="rect">
            <a:avLst/>
          </a:prstGeom>
          <a:solidFill>
            <a:schemeClr val="tx1"/>
          </a:solidFill>
          <a:ln/>
        </p:spPr>
      </p:sp>
      <p:pic>
        <p:nvPicPr>
          <p:cNvPr id="21" name="Image 5" descr="shield alert icon">    </p:cNvPr>
          <p:cNvPicPr>
            <a:picLocks noChangeAspect="1"/>
          </p:cNvPicPr>
          <p:nvPr/>
        </p:nvPicPr>
        <p:blipFill>
          <a:blip r:embed="rId6"/>
          <a:stretch>
            <a:fillRect/>
          </a:stretch>
        </p:blipFill>
        <p:spPr>
          <a:xfrm>
            <a:off x="6629400" y="2011680"/>
            <a:ext cx="502920" cy="502920"/>
          </a:xfrm>
          <a:prstGeom prst="rect">
            <a:avLst/>
          </a:prstGeom>
        </p:spPr>
      </p:pic>
      <p:sp>
        <p:nvSpPr>
          <p:cNvPr id="22" name="Text 14"/>
          <p:cNvSpPr txBox="1"/>
          <p:nvPr/>
        </p:nvSpPr>
        <p:spPr>
          <a:xfrm>
            <a:off x="6629400" y="2651760"/>
            <a:ext cx="4663440" cy="1371600"/>
          </a:xfrm>
          <a:prstGeom prst="rect">
            <a:avLst/>
          </a:prstGeom>
          <a:noFill/>
          <a:ln/>
        </p:spPr>
        <p:txBody>
          <a:bodyPr wrap="square" lIns="0" tIns="0" rIns="0" bIns="0" rtlCol="0" anchor="t"/>
          <a:lstStyle/>
          <a:p>
            <a:pPr indent="0" marL="0">
              <a:buNone/>
            </a:pPr>
            <a:r>
              <a:rPr lang="en-US" sz="2000" i="1" dirty="0">
                <a:solidFill>
                  <a:schemeClr val="bg1"/>
                </a:solidFill>
                <a:latin typeface="Cambria" pitchFamily="34" charset="0"/>
                <a:ea typeface="Cambria" pitchFamily="34" charset="-122"/>
                <a:cs typeface="Cambria" pitchFamily="34" charset="-120"/>
              </a:rPr>
              <a:t>“This looks like it could be a scam. Want me to read it, or flag it to your family?”</a:t>
            </a:r>
            <a:endParaRPr lang="en-US" sz="2000" dirty="0"/>
          </a:p>
        </p:txBody>
      </p:sp>
      <p:sp>
        <p:nvSpPr>
          <p:cNvPr id="23" name="Text 15"/>
          <p:cNvSpPr txBox="1"/>
          <p:nvPr/>
        </p:nvSpPr>
        <p:spPr>
          <a:xfrm>
            <a:off x="6309360" y="4206240"/>
            <a:ext cx="5303520" cy="365760"/>
          </a:xfrm>
          <a:prstGeom prst="rect">
            <a:avLst/>
          </a:prstGeom>
          <a:noFill/>
          <a:ln/>
        </p:spPr>
        <p:txBody>
          <a:bodyPr wrap="square" lIns="0" tIns="0" rIns="0" bIns="0" rtlCol="0" anchor="t"/>
          <a:lstStyle/>
          <a:p>
            <a:pPr indent="0" marL="0">
              <a:buNone/>
            </a:pPr>
            <a:r>
              <a:rPr lang="en-US" sz="1700" b="1" dirty="0">
                <a:solidFill>
                  <a:schemeClr val="accent1"/>
                </a:solidFill>
              </a:rPr>
              <a:t>Oversight without taking control</a:t>
            </a:r>
            <a:endParaRPr lang="en-US" sz="1700" dirty="0"/>
          </a:p>
        </p:txBody>
      </p:sp>
      <p:sp>
        <p:nvSpPr>
          <p:cNvPr id="24" name="Text 16"/>
          <p:cNvSpPr txBox="1"/>
          <p:nvPr/>
        </p:nvSpPr>
        <p:spPr>
          <a:xfrm>
            <a:off x="6309360" y="4617720"/>
            <a:ext cx="5303520" cy="137160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Rate-limited trusted-contact notifications</a:t>
            </a:r>
            <a:endParaRPr lang="en-US" sz="1600" dirty="0"/>
          </a:p>
          <a:p>
            <a:pPr marL="342900" indent="-342900">
              <a:spcAft>
                <a:spcPts val="400"/>
              </a:spcAft>
              <a:buSzPct val="100000"/>
              <a:buChar char="•"/>
            </a:pPr>
            <a:r>
              <a:rPr lang="en-US" sz="1600" dirty="0">
                <a:solidFill>
                  <a:schemeClr val="tx1"/>
                </a:solidFill>
              </a:rPr>
              <a:t>Full transcript and tool-call audit log</a:t>
            </a:r>
            <a:endParaRPr lang="en-US" sz="1600" dirty="0"/>
          </a:p>
          <a:p>
            <a:pPr marL="342900" indent="-342900">
              <a:spcAft>
                <a:spcPts val="400"/>
              </a:spcAft>
              <a:buSzPct val="100000"/>
              <a:buChar char="•"/>
            </a:pPr>
            <a:r>
              <a:rPr lang="en-US" sz="1600" dirty="0">
                <a:solidFill>
                  <a:schemeClr val="tx1"/>
                </a:solidFill>
              </a:rPr>
              <a:t>Autonomy settings the person can see and change</a:t>
            </a:r>
            <a:endParaRPr lang="en-US" sz="16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COMPUTER USE</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EWOK drives the screen, with the brakes built in</a:t>
            </a:r>
            <a:endParaRPr lang="en-US" sz="3600" dirty="0"/>
          </a:p>
        </p:txBody>
      </p:sp>
      <p:sp>
        <p:nvSpPr>
          <p:cNvPr id="4" name="Text 2"/>
          <p:cNvSpPr txBox="1"/>
          <p:nvPr/>
        </p:nvSpPr>
        <p:spPr>
          <a:xfrm>
            <a:off x="548640" y="1691640"/>
            <a:ext cx="11064240" cy="365760"/>
          </a:xfrm>
          <a:prstGeom prst="rect">
            <a:avLst/>
          </a:prstGeom>
          <a:noFill/>
          <a:ln/>
        </p:spPr>
        <p:txBody>
          <a:bodyPr wrap="square" lIns="0" tIns="0" rIns="0" bIns="0" rtlCol="0" anchor="t"/>
          <a:lstStyle/>
          <a:p>
            <a:pPr indent="0" marL="0">
              <a:buNone/>
            </a:pPr>
            <a:r>
              <a:rPr lang="en-US" sz="1600" dirty="0">
                <a:solidFill>
                  <a:schemeClr val="tx1"/>
                </a:solidFill>
              </a:rPr>
              <a:t>Every click, keystroke and page EWOK opens goes through a check that lives outside the model.</a:t>
            </a:r>
            <a:endParaRPr lang="en-US" sz="1600" dirty="0"/>
          </a:p>
        </p:txBody>
      </p:sp>
      <p:sp>
        <p:nvSpPr>
          <p:cNvPr id="5" name="step 1"/>
          <p:cNvSpPr/>
          <p:nvPr/>
        </p:nvSpPr>
        <p:spPr>
          <a:xfrm>
            <a:off x="548640" y="2286000"/>
            <a:ext cx="2560320" cy="2468880"/>
          </a:xfrm>
          <a:prstGeom prst="rect">
            <a:avLst/>
          </a:prstGeom>
          <a:solidFill>
            <a:schemeClr val="bg2"/>
          </a:solidFill>
          <a:ln/>
        </p:spPr>
      </p:sp>
      <p:sp>
        <p:nvSpPr>
          <p:cNvPr id="6" name="step badge 1"/>
          <p:cNvSpPr/>
          <p:nvPr/>
        </p:nvSpPr>
        <p:spPr>
          <a:xfrm>
            <a:off x="822960" y="2514600"/>
            <a:ext cx="548640" cy="548640"/>
          </a:xfrm>
          <a:prstGeom prst="ellipse">
            <a:avLst/>
          </a:prstGeom>
          <a:solidFill>
            <a:schemeClr val="bg1"/>
          </a:solidFill>
          <a:ln/>
        </p:spPr>
      </p:sp>
      <p:pic>
        <p:nvPicPr>
          <p:cNvPr id="7" name="Image 0" descr="1  Propose icon">    </p:cNvPr>
          <p:cNvPicPr>
            <a:picLocks noChangeAspect="1"/>
          </p:cNvPicPr>
          <p:nvPr/>
        </p:nvPicPr>
        <p:blipFill>
          <a:blip r:embed="rId1"/>
          <a:stretch>
            <a:fillRect/>
          </a:stretch>
        </p:blipFill>
        <p:spPr>
          <a:xfrm>
            <a:off x="960120" y="2651760"/>
            <a:ext cx="274320" cy="274320"/>
          </a:xfrm>
          <a:prstGeom prst="rect">
            <a:avLst/>
          </a:prstGeom>
        </p:spPr>
      </p:pic>
      <p:sp>
        <p:nvSpPr>
          <p:cNvPr id="8" name="Text 5"/>
          <p:cNvSpPr txBox="1"/>
          <p:nvPr/>
        </p:nvSpPr>
        <p:spPr>
          <a:xfrm>
            <a:off x="822960" y="32004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1  Propose</a:t>
            </a:r>
            <a:endParaRPr lang="en-US" sz="1700" dirty="0"/>
          </a:p>
        </p:txBody>
      </p:sp>
      <p:sp>
        <p:nvSpPr>
          <p:cNvPr id="9" name="Text 6"/>
          <p:cNvSpPr txBox="1"/>
          <p:nvPr/>
        </p:nvSpPr>
        <p:spPr>
          <a:xfrm>
            <a:off x="822960" y="3566160"/>
            <a:ext cx="2103120" cy="1097280"/>
          </a:xfrm>
          <a:prstGeom prst="rect">
            <a:avLst/>
          </a:prstGeom>
          <a:noFill/>
          <a:ln/>
        </p:spPr>
        <p:txBody>
          <a:bodyPr wrap="square" lIns="0" tIns="0" rIns="0" bIns="0" rtlCol="0" anchor="t"/>
          <a:lstStyle/>
          <a:p>
            <a:pPr indent="0" marL="0">
              <a:buNone/>
            </a:pPr>
            <a:r>
              <a:rPr lang="en-US" sz="1300" dirty="0">
                <a:solidFill>
                  <a:schemeClr val="tx1"/>
                </a:solidFill>
              </a:rPr>
              <a:t>The model asks to click, type or open a page.</a:t>
            </a:r>
            <a:endParaRPr lang="en-US" sz="1300" dirty="0"/>
          </a:p>
        </p:txBody>
      </p:sp>
      <p:pic>
        <p:nvPicPr>
          <p:cNvPr id="10" name="Image 1" descr="then">    </p:cNvPr>
          <p:cNvPicPr>
            <a:picLocks noChangeAspect="1"/>
          </p:cNvPicPr>
          <p:nvPr/>
        </p:nvPicPr>
        <p:blipFill>
          <a:blip r:embed="rId2"/>
          <a:stretch>
            <a:fillRect/>
          </a:stretch>
        </p:blipFill>
        <p:spPr>
          <a:xfrm>
            <a:off x="3145536" y="3291840"/>
            <a:ext cx="182880" cy="182880"/>
          </a:xfrm>
          <a:prstGeom prst="rect">
            <a:avLst/>
          </a:prstGeom>
        </p:spPr>
      </p:pic>
      <p:sp>
        <p:nvSpPr>
          <p:cNvPr id="11" name="step 2"/>
          <p:cNvSpPr/>
          <p:nvPr/>
        </p:nvSpPr>
        <p:spPr>
          <a:xfrm>
            <a:off x="3364992" y="2286000"/>
            <a:ext cx="2560320" cy="2468880"/>
          </a:xfrm>
          <a:prstGeom prst="rect">
            <a:avLst/>
          </a:prstGeom>
          <a:solidFill>
            <a:schemeClr val="accent1"/>
          </a:solidFill>
          <a:ln/>
        </p:spPr>
      </p:sp>
      <p:sp>
        <p:nvSpPr>
          <p:cNvPr id="12" name="step badge 2"/>
          <p:cNvSpPr/>
          <p:nvPr/>
        </p:nvSpPr>
        <p:spPr>
          <a:xfrm>
            <a:off x="3639312" y="2514600"/>
            <a:ext cx="548640" cy="548640"/>
          </a:xfrm>
          <a:prstGeom prst="ellipse">
            <a:avLst/>
          </a:prstGeom>
          <a:solidFill>
            <a:schemeClr val="tx2"/>
          </a:solidFill>
          <a:ln/>
        </p:spPr>
      </p:sp>
      <p:pic>
        <p:nvPicPr>
          <p:cNvPr id="13" name="Image 2" descr="2  Check icon">    </p:cNvPr>
          <p:cNvPicPr>
            <a:picLocks noChangeAspect="1"/>
          </p:cNvPicPr>
          <p:nvPr/>
        </p:nvPicPr>
        <p:blipFill>
          <a:blip r:embed="rId3"/>
          <a:stretch>
            <a:fillRect/>
          </a:stretch>
        </p:blipFill>
        <p:spPr>
          <a:xfrm>
            <a:off x="3776472" y="2651760"/>
            <a:ext cx="274320" cy="274320"/>
          </a:xfrm>
          <a:prstGeom prst="rect">
            <a:avLst/>
          </a:prstGeom>
        </p:spPr>
      </p:pic>
      <p:sp>
        <p:nvSpPr>
          <p:cNvPr id="14" name="Text 9"/>
          <p:cNvSpPr txBox="1"/>
          <p:nvPr/>
        </p:nvSpPr>
        <p:spPr>
          <a:xfrm>
            <a:off x="3639312" y="3200400"/>
            <a:ext cx="2103120" cy="365760"/>
          </a:xfrm>
          <a:prstGeom prst="rect">
            <a:avLst/>
          </a:prstGeom>
          <a:noFill/>
          <a:ln/>
        </p:spPr>
        <p:txBody>
          <a:bodyPr wrap="square" lIns="0" tIns="0" rIns="0" bIns="0" rtlCol="0" anchor="t"/>
          <a:lstStyle/>
          <a:p>
            <a:pPr indent="0" marL="0">
              <a:buNone/>
            </a:pPr>
            <a:r>
              <a:rPr lang="en-US" sz="1700" b="1" dirty="0">
                <a:solidFill>
                  <a:schemeClr val="bg1"/>
                </a:solidFill>
              </a:rPr>
              <a:t>2  Check</a:t>
            </a:r>
            <a:endParaRPr lang="en-US" sz="1700" dirty="0"/>
          </a:p>
        </p:txBody>
      </p:sp>
      <p:sp>
        <p:nvSpPr>
          <p:cNvPr id="15" name="Text 10"/>
          <p:cNvSpPr txBox="1"/>
          <p:nvPr/>
        </p:nvSpPr>
        <p:spPr>
          <a:xfrm>
            <a:off x="3639312" y="3566160"/>
            <a:ext cx="2103120" cy="1097280"/>
          </a:xfrm>
          <a:prstGeom prst="rect">
            <a:avLst/>
          </a:prstGeom>
          <a:noFill/>
          <a:ln/>
        </p:spPr>
        <p:txBody>
          <a:bodyPr wrap="square" lIns="0" tIns="0" rIns="0" bIns="0" rtlCol="0" anchor="t"/>
          <a:lstStyle/>
          <a:p>
            <a:pPr indent="0" marL="0">
              <a:buNone/>
            </a:pPr>
            <a:r>
              <a:rPr lang="en-US" sz="1300" dirty="0">
                <a:solidFill>
                  <a:schemeClr val="bg1"/>
                </a:solidFill>
              </a:rPr>
              <a:t>Outside the model: is the site allowed, is the screen sensitive, does this click have consequences?</a:t>
            </a:r>
            <a:endParaRPr lang="en-US" sz="1300" dirty="0"/>
          </a:p>
        </p:txBody>
      </p:sp>
      <p:pic>
        <p:nvPicPr>
          <p:cNvPr id="16" name="Image 3" descr="then">    </p:cNvPr>
          <p:cNvPicPr>
            <a:picLocks noChangeAspect="1"/>
          </p:cNvPicPr>
          <p:nvPr/>
        </p:nvPicPr>
        <p:blipFill>
          <a:blip r:embed="rId4"/>
          <a:stretch>
            <a:fillRect/>
          </a:stretch>
        </p:blipFill>
        <p:spPr>
          <a:xfrm>
            <a:off x="5961888" y="3291840"/>
            <a:ext cx="182880" cy="182880"/>
          </a:xfrm>
          <a:prstGeom prst="rect">
            <a:avLst/>
          </a:prstGeom>
        </p:spPr>
      </p:pic>
      <p:sp>
        <p:nvSpPr>
          <p:cNvPr id="17" name="step 3"/>
          <p:cNvSpPr/>
          <p:nvPr/>
        </p:nvSpPr>
        <p:spPr>
          <a:xfrm>
            <a:off x="6181344" y="2286000"/>
            <a:ext cx="2560320" cy="2468880"/>
          </a:xfrm>
          <a:prstGeom prst="rect">
            <a:avLst/>
          </a:prstGeom>
          <a:solidFill>
            <a:schemeClr val="bg2"/>
          </a:solidFill>
          <a:ln/>
        </p:spPr>
      </p:sp>
      <p:sp>
        <p:nvSpPr>
          <p:cNvPr id="18" name="step badge 3"/>
          <p:cNvSpPr/>
          <p:nvPr/>
        </p:nvSpPr>
        <p:spPr>
          <a:xfrm>
            <a:off x="6455664" y="2514600"/>
            <a:ext cx="548640" cy="548640"/>
          </a:xfrm>
          <a:prstGeom prst="ellipse">
            <a:avLst/>
          </a:prstGeom>
          <a:solidFill>
            <a:schemeClr val="bg1"/>
          </a:solidFill>
          <a:ln/>
        </p:spPr>
      </p:sp>
      <p:pic>
        <p:nvPicPr>
          <p:cNvPr id="19" name="Image 4" descr="3  Act aloud icon">    </p:cNvPr>
          <p:cNvPicPr>
            <a:picLocks noChangeAspect="1"/>
          </p:cNvPicPr>
          <p:nvPr/>
        </p:nvPicPr>
        <p:blipFill>
          <a:blip r:embed="rId5"/>
          <a:stretch>
            <a:fillRect/>
          </a:stretch>
        </p:blipFill>
        <p:spPr>
          <a:xfrm>
            <a:off x="6592824" y="2651760"/>
            <a:ext cx="274320" cy="274320"/>
          </a:xfrm>
          <a:prstGeom prst="rect">
            <a:avLst/>
          </a:prstGeom>
        </p:spPr>
      </p:pic>
      <p:sp>
        <p:nvSpPr>
          <p:cNvPr id="20" name="Text 13"/>
          <p:cNvSpPr txBox="1"/>
          <p:nvPr/>
        </p:nvSpPr>
        <p:spPr>
          <a:xfrm>
            <a:off x="6455664" y="32004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3  Act aloud</a:t>
            </a:r>
            <a:endParaRPr lang="en-US" sz="1700" dirty="0"/>
          </a:p>
        </p:txBody>
      </p:sp>
      <p:sp>
        <p:nvSpPr>
          <p:cNvPr id="21" name="Text 14"/>
          <p:cNvSpPr txBox="1"/>
          <p:nvPr/>
        </p:nvSpPr>
        <p:spPr>
          <a:xfrm>
            <a:off x="6455664" y="3566160"/>
            <a:ext cx="2103120" cy="1097280"/>
          </a:xfrm>
          <a:prstGeom prst="rect">
            <a:avLst/>
          </a:prstGeom>
          <a:noFill/>
          <a:ln/>
        </p:spPr>
        <p:txBody>
          <a:bodyPr wrap="square" lIns="0" tIns="0" rIns="0" bIns="0" rtlCol="0" anchor="t"/>
          <a:lstStyle/>
          <a:p>
            <a:pPr indent="0" marL="0">
              <a:buNone/>
            </a:pPr>
            <a:r>
              <a:rPr lang="en-US" sz="1300" dirty="0">
                <a:solidFill>
                  <a:schemeClr val="tx1"/>
                </a:solidFill>
              </a:rPr>
              <a:t>EWOK says what it's doing: "Opening your inbox now."</a:t>
            </a:r>
            <a:endParaRPr lang="en-US" sz="1300" dirty="0"/>
          </a:p>
        </p:txBody>
      </p:sp>
      <p:pic>
        <p:nvPicPr>
          <p:cNvPr id="22" name="Image 5" descr="then">    </p:cNvPr>
          <p:cNvPicPr>
            <a:picLocks noChangeAspect="1"/>
          </p:cNvPicPr>
          <p:nvPr/>
        </p:nvPicPr>
        <p:blipFill>
          <a:blip r:embed="rId6"/>
          <a:stretch>
            <a:fillRect/>
          </a:stretch>
        </p:blipFill>
        <p:spPr>
          <a:xfrm>
            <a:off x="8778240" y="3291840"/>
            <a:ext cx="182880" cy="182880"/>
          </a:xfrm>
          <a:prstGeom prst="rect">
            <a:avLst/>
          </a:prstGeom>
        </p:spPr>
      </p:pic>
      <p:sp>
        <p:nvSpPr>
          <p:cNvPr id="23" name="step 4"/>
          <p:cNvSpPr/>
          <p:nvPr/>
        </p:nvSpPr>
        <p:spPr>
          <a:xfrm>
            <a:off x="8997696" y="2286000"/>
            <a:ext cx="2560320" cy="2468880"/>
          </a:xfrm>
          <a:prstGeom prst="rect">
            <a:avLst/>
          </a:prstGeom>
          <a:solidFill>
            <a:schemeClr val="bg2"/>
          </a:solidFill>
          <a:ln/>
        </p:spPr>
      </p:sp>
      <p:sp>
        <p:nvSpPr>
          <p:cNvPr id="24" name="step badge 4"/>
          <p:cNvSpPr/>
          <p:nvPr/>
        </p:nvSpPr>
        <p:spPr>
          <a:xfrm>
            <a:off x="9272016" y="2514600"/>
            <a:ext cx="548640" cy="548640"/>
          </a:xfrm>
          <a:prstGeom prst="ellipse">
            <a:avLst/>
          </a:prstGeom>
          <a:solidFill>
            <a:schemeClr val="bg1"/>
          </a:solidFill>
          <a:ln/>
        </p:spPr>
      </p:sp>
      <p:pic>
        <p:nvPicPr>
          <p:cNvPr id="25" name="Image 6" descr="4  Verify and log icon">    </p:cNvPr>
          <p:cNvPicPr>
            <a:picLocks noChangeAspect="1"/>
          </p:cNvPicPr>
          <p:nvPr/>
        </p:nvPicPr>
        <p:blipFill>
          <a:blip r:embed="rId7"/>
          <a:stretch>
            <a:fillRect/>
          </a:stretch>
        </p:blipFill>
        <p:spPr>
          <a:xfrm>
            <a:off x="9409176" y="2651760"/>
            <a:ext cx="274320" cy="274320"/>
          </a:xfrm>
          <a:prstGeom prst="rect">
            <a:avLst/>
          </a:prstGeom>
        </p:spPr>
      </p:pic>
      <p:sp>
        <p:nvSpPr>
          <p:cNvPr id="26" name="Text 17"/>
          <p:cNvSpPr txBox="1"/>
          <p:nvPr/>
        </p:nvSpPr>
        <p:spPr>
          <a:xfrm>
            <a:off x="9272016" y="32004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4  Verify and log</a:t>
            </a:r>
            <a:endParaRPr lang="en-US" sz="1700" dirty="0"/>
          </a:p>
        </p:txBody>
      </p:sp>
      <p:sp>
        <p:nvSpPr>
          <p:cNvPr id="27" name="Text 18"/>
          <p:cNvSpPr txBox="1"/>
          <p:nvPr/>
        </p:nvSpPr>
        <p:spPr>
          <a:xfrm>
            <a:off x="9272016" y="3566160"/>
            <a:ext cx="2103120" cy="1097280"/>
          </a:xfrm>
          <a:prstGeom prst="rect">
            <a:avLst/>
          </a:prstGeom>
          <a:noFill/>
          <a:ln/>
        </p:spPr>
        <p:txBody>
          <a:bodyPr wrap="square" lIns="0" tIns="0" rIns="0" bIns="0" rtlCol="0" anchor="t"/>
          <a:lstStyle/>
          <a:p>
            <a:pPr indent="0" marL="0">
              <a:buNone/>
            </a:pPr>
            <a:r>
              <a:rPr lang="en-US" sz="1300" dirty="0">
                <a:solidFill>
                  <a:schemeClr val="tx1"/>
                </a:solidFill>
              </a:rPr>
              <a:t>A fresh screenshot confirms the result. Every step lands in the audit log.</a:t>
            </a:r>
            <a:endParaRPr lang="en-US" sz="1300" dirty="0"/>
          </a:p>
        </p:txBody>
      </p:sp>
      <p:sp>
        <p:nvSpPr>
          <p:cNvPr id="28" name="Text 19"/>
          <p:cNvSpPr txBox="1"/>
          <p:nvPr/>
        </p:nvSpPr>
        <p:spPr>
          <a:xfrm>
            <a:off x="548640" y="4937760"/>
            <a:ext cx="5486400" cy="320040"/>
          </a:xfrm>
          <a:prstGeom prst="rect">
            <a:avLst/>
          </a:prstGeom>
          <a:noFill/>
          <a:ln/>
        </p:spPr>
        <p:txBody>
          <a:bodyPr wrap="square" lIns="0" tIns="0" rIns="0" bIns="0" rtlCol="0" anchor="t"/>
          <a:lstStyle/>
          <a:p>
            <a:pPr indent="0" marL="0">
              <a:buNone/>
            </a:pPr>
            <a:r>
              <a:rPr lang="en-US" sz="1200" b="1" spc="300" kern="0" dirty="0">
                <a:solidFill>
                  <a:schemeClr val="accent2"/>
                </a:solidFill>
              </a:rPr>
              <a:t>IN PLACE TODAY</a:t>
            </a:r>
            <a:endParaRPr lang="en-US" sz="1200" dirty="0"/>
          </a:p>
        </p:txBody>
      </p:sp>
      <p:pic>
        <p:nvPicPr>
          <p:cNvPr id="29" name="Image 7" descr="One-switch off icon">    </p:cNvPr>
          <p:cNvPicPr>
            <a:picLocks noChangeAspect="1"/>
          </p:cNvPicPr>
          <p:nvPr/>
        </p:nvPicPr>
        <p:blipFill>
          <a:blip r:embed="rId8"/>
          <a:stretch>
            <a:fillRect/>
          </a:stretch>
        </p:blipFill>
        <p:spPr>
          <a:xfrm>
            <a:off x="548640" y="5349240"/>
            <a:ext cx="320040" cy="320040"/>
          </a:xfrm>
          <a:prstGeom prst="rect">
            <a:avLst/>
          </a:prstGeom>
        </p:spPr>
      </p:pic>
      <p:sp>
        <p:nvSpPr>
          <p:cNvPr id="30" name="Text 20"/>
          <p:cNvSpPr txBox="1"/>
          <p:nvPr/>
        </p:nvSpPr>
        <p:spPr>
          <a:xfrm>
            <a:off x="1005840" y="5303520"/>
            <a:ext cx="2240280" cy="320040"/>
          </a:xfrm>
          <a:prstGeom prst="rect">
            <a:avLst/>
          </a:prstGeom>
          <a:noFill/>
          <a:ln/>
        </p:spPr>
        <p:txBody>
          <a:bodyPr wrap="square" lIns="0" tIns="0" rIns="0" bIns="0" rtlCol="0" anchor="t"/>
          <a:lstStyle/>
          <a:p>
            <a:pPr indent="0" marL="0">
              <a:buNone/>
            </a:pPr>
            <a:r>
              <a:rPr lang="en-US" sz="1400" b="1" dirty="0">
                <a:solidFill>
                  <a:schemeClr val="tx1"/>
                </a:solidFill>
              </a:rPr>
              <a:t>One-switch off</a:t>
            </a:r>
            <a:endParaRPr lang="en-US" sz="1400" dirty="0"/>
          </a:p>
        </p:txBody>
      </p:sp>
      <p:sp>
        <p:nvSpPr>
          <p:cNvPr id="31" name="Text 21"/>
          <p:cNvSpPr txBox="1"/>
          <p:nvPr/>
        </p:nvSpPr>
        <p:spPr>
          <a:xfrm>
            <a:off x="1005840" y="5605272"/>
            <a:ext cx="2240280" cy="548640"/>
          </a:xfrm>
          <a:prstGeom prst="rect">
            <a:avLst/>
          </a:prstGeom>
          <a:noFill/>
          <a:ln/>
        </p:spPr>
        <p:txBody>
          <a:bodyPr wrap="square" lIns="0" tIns="0" rIns="0" bIns="0" rtlCol="0" anchor="t"/>
          <a:lstStyle/>
          <a:p>
            <a:pPr indent="0" marL="0">
              <a:buNone/>
            </a:pPr>
            <a:r>
              <a:rPr lang="en-US" sz="1200" dirty="0">
                <a:solidFill>
                  <a:schemeClr val="tx1"/>
                </a:solidFill>
              </a:rPr>
              <a:t>CLAW_COMPUTER_USE=0</a:t>
            </a:r>
            <a:endParaRPr lang="en-US" sz="1200" dirty="0"/>
          </a:p>
        </p:txBody>
      </p:sp>
      <p:pic>
        <p:nvPicPr>
          <p:cNvPr id="32" name="Image 8" descr="Localhost only icon">    </p:cNvPr>
          <p:cNvPicPr>
            <a:picLocks noChangeAspect="1"/>
          </p:cNvPicPr>
          <p:nvPr/>
        </p:nvPicPr>
        <p:blipFill>
          <a:blip r:embed="rId9"/>
          <a:stretch>
            <a:fillRect/>
          </a:stretch>
        </p:blipFill>
        <p:spPr>
          <a:xfrm>
            <a:off x="3364992" y="5349240"/>
            <a:ext cx="320040" cy="320040"/>
          </a:xfrm>
          <a:prstGeom prst="rect">
            <a:avLst/>
          </a:prstGeom>
        </p:spPr>
      </p:pic>
      <p:sp>
        <p:nvSpPr>
          <p:cNvPr id="33" name="Text 22"/>
          <p:cNvSpPr txBox="1"/>
          <p:nvPr/>
        </p:nvSpPr>
        <p:spPr>
          <a:xfrm>
            <a:off x="3822192" y="5303520"/>
            <a:ext cx="2240280" cy="320040"/>
          </a:xfrm>
          <a:prstGeom prst="rect">
            <a:avLst/>
          </a:prstGeom>
          <a:noFill/>
          <a:ln/>
        </p:spPr>
        <p:txBody>
          <a:bodyPr wrap="square" lIns="0" tIns="0" rIns="0" bIns="0" rtlCol="0" anchor="t"/>
          <a:lstStyle/>
          <a:p>
            <a:pPr indent="0" marL="0">
              <a:buNone/>
            </a:pPr>
            <a:r>
              <a:rPr lang="en-US" sz="1400" b="1" dirty="0">
                <a:solidFill>
                  <a:schemeClr val="tx1"/>
                </a:solidFill>
              </a:rPr>
              <a:t>Localhost only</a:t>
            </a:r>
            <a:endParaRPr lang="en-US" sz="1400" dirty="0"/>
          </a:p>
        </p:txBody>
      </p:sp>
      <p:sp>
        <p:nvSpPr>
          <p:cNvPr id="34" name="Text 23"/>
          <p:cNvSpPr txBox="1"/>
          <p:nvPr/>
        </p:nvSpPr>
        <p:spPr>
          <a:xfrm>
            <a:off x="3822192" y="5605272"/>
            <a:ext cx="2240280" cy="548640"/>
          </a:xfrm>
          <a:prstGeom prst="rect">
            <a:avLst/>
          </a:prstGeom>
          <a:noFill/>
          <a:ln/>
        </p:spPr>
        <p:txBody>
          <a:bodyPr wrap="square" lIns="0" tIns="0" rIns="0" bIns="0" rtlCol="0" anchor="t"/>
          <a:lstStyle/>
          <a:p>
            <a:pPr indent="0" marL="0">
              <a:buNone/>
            </a:pPr>
            <a:r>
              <a:rPr lang="en-US" sz="1200" dirty="0">
                <a:solidFill>
                  <a:schemeClr val="tx1"/>
                </a:solidFill>
              </a:rPr>
              <a:t>Gateway never faces the internet</a:t>
            </a:r>
            <a:endParaRPr lang="en-US" sz="1200" dirty="0"/>
          </a:p>
        </p:txBody>
      </p:sp>
      <p:pic>
        <p:nvPicPr>
          <p:cNvPr id="35" name="Image 9" descr="OS permission icon">    </p:cNvPr>
          <p:cNvPicPr>
            <a:picLocks noChangeAspect="1"/>
          </p:cNvPicPr>
          <p:nvPr/>
        </p:nvPicPr>
        <p:blipFill>
          <a:blip r:embed="rId10"/>
          <a:stretch>
            <a:fillRect/>
          </a:stretch>
        </p:blipFill>
        <p:spPr>
          <a:xfrm>
            <a:off x="6181344" y="5349240"/>
            <a:ext cx="320040" cy="320040"/>
          </a:xfrm>
          <a:prstGeom prst="rect">
            <a:avLst/>
          </a:prstGeom>
        </p:spPr>
      </p:pic>
      <p:sp>
        <p:nvSpPr>
          <p:cNvPr id="36" name="Text 24"/>
          <p:cNvSpPr txBox="1"/>
          <p:nvPr/>
        </p:nvSpPr>
        <p:spPr>
          <a:xfrm>
            <a:off x="6638544" y="5303520"/>
            <a:ext cx="2240280" cy="320040"/>
          </a:xfrm>
          <a:prstGeom prst="rect">
            <a:avLst/>
          </a:prstGeom>
          <a:noFill/>
          <a:ln/>
        </p:spPr>
        <p:txBody>
          <a:bodyPr wrap="square" lIns="0" tIns="0" rIns="0" bIns="0" rtlCol="0" anchor="t"/>
          <a:lstStyle/>
          <a:p>
            <a:pPr indent="0" marL="0">
              <a:buNone/>
            </a:pPr>
            <a:r>
              <a:rPr lang="en-US" sz="1400" b="1" dirty="0">
                <a:solidFill>
                  <a:schemeClr val="tx1"/>
                </a:solidFill>
              </a:rPr>
              <a:t>OS permission</a:t>
            </a:r>
            <a:endParaRPr lang="en-US" sz="1400" dirty="0"/>
          </a:p>
        </p:txBody>
      </p:sp>
      <p:sp>
        <p:nvSpPr>
          <p:cNvPr id="37" name="Text 25"/>
          <p:cNvSpPr txBox="1"/>
          <p:nvPr/>
        </p:nvSpPr>
        <p:spPr>
          <a:xfrm>
            <a:off x="6638544" y="5605272"/>
            <a:ext cx="2240280" cy="548640"/>
          </a:xfrm>
          <a:prstGeom prst="rect">
            <a:avLst/>
          </a:prstGeom>
          <a:noFill/>
          <a:ln/>
        </p:spPr>
        <p:txBody>
          <a:bodyPr wrap="square" lIns="0" tIns="0" rIns="0" bIns="0" rtlCol="0" anchor="t"/>
          <a:lstStyle/>
          <a:p>
            <a:pPr indent="0" marL="0">
              <a:buNone/>
            </a:pPr>
            <a:r>
              <a:rPr lang="en-US" sz="1200" dirty="0">
                <a:solidFill>
                  <a:schemeClr val="tx1"/>
                </a:solidFill>
              </a:rPr>
              <a:t>macOS must grant screen + input access</a:t>
            </a:r>
            <a:endParaRPr lang="en-US" sz="1200" dirty="0"/>
          </a:p>
        </p:txBody>
      </p:sp>
      <p:pic>
        <p:nvPicPr>
          <p:cNvPr id="38" name="Image 10" descr="Bounded moves icon">    </p:cNvPr>
          <p:cNvPicPr>
            <a:picLocks noChangeAspect="1"/>
          </p:cNvPicPr>
          <p:nvPr/>
        </p:nvPicPr>
        <p:blipFill>
          <a:blip r:embed="rId11"/>
          <a:stretch>
            <a:fillRect/>
          </a:stretch>
        </p:blipFill>
        <p:spPr>
          <a:xfrm>
            <a:off x="8997696" y="5349240"/>
            <a:ext cx="320040" cy="320040"/>
          </a:xfrm>
          <a:prstGeom prst="rect">
            <a:avLst/>
          </a:prstGeom>
        </p:spPr>
      </p:pic>
      <p:sp>
        <p:nvSpPr>
          <p:cNvPr id="39" name="Text 26"/>
          <p:cNvSpPr txBox="1"/>
          <p:nvPr/>
        </p:nvSpPr>
        <p:spPr>
          <a:xfrm>
            <a:off x="9454896" y="5303520"/>
            <a:ext cx="2240280" cy="320040"/>
          </a:xfrm>
          <a:prstGeom prst="rect">
            <a:avLst/>
          </a:prstGeom>
          <a:noFill/>
          <a:ln/>
        </p:spPr>
        <p:txBody>
          <a:bodyPr wrap="square" lIns="0" tIns="0" rIns="0" bIns="0" rtlCol="0" anchor="t"/>
          <a:lstStyle/>
          <a:p>
            <a:pPr indent="0" marL="0">
              <a:buNone/>
            </a:pPr>
            <a:r>
              <a:rPr lang="en-US" sz="1400" b="1" dirty="0">
                <a:solidFill>
                  <a:schemeClr val="tx1"/>
                </a:solidFill>
              </a:rPr>
              <a:t>Bounded moves</a:t>
            </a:r>
            <a:endParaRPr lang="en-US" sz="1400" dirty="0"/>
          </a:p>
        </p:txBody>
      </p:sp>
      <p:sp>
        <p:nvSpPr>
          <p:cNvPr id="40" name="Text 27"/>
          <p:cNvSpPr txBox="1"/>
          <p:nvPr/>
        </p:nvSpPr>
        <p:spPr>
          <a:xfrm>
            <a:off x="9454896" y="5605272"/>
            <a:ext cx="2240280" cy="548640"/>
          </a:xfrm>
          <a:prstGeom prst="rect">
            <a:avLst/>
          </a:prstGeom>
          <a:noFill/>
          <a:ln/>
        </p:spPr>
        <p:txBody>
          <a:bodyPr wrap="square" lIns="0" tIns="0" rIns="0" bIns="0" rtlCol="0" anchor="t"/>
          <a:lstStyle/>
          <a:p>
            <a:pPr indent="0" marL="0">
              <a:buNone/>
            </a:pPr>
            <a:r>
              <a:rPr lang="en-US" sz="1200" dirty="0">
                <a:solidFill>
                  <a:schemeClr val="tx1"/>
                </a:solidFill>
              </a:rPr>
              <a:t>Clicks clamped to the screen; waits and scrolls capped</a:t>
            </a:r>
            <a:endParaRPr lang="en-US" sz="12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SAFEGUARDS WE'RE ADDING</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Six rules for an agent at someone's computer</a:t>
            </a:r>
            <a:endParaRPr lang="en-US" sz="3600" dirty="0"/>
          </a:p>
        </p:txBody>
      </p:sp>
      <p:sp>
        <p:nvSpPr>
          <p:cNvPr id="4" name="badge LuEyeOff"/>
          <p:cNvSpPr/>
          <p:nvPr/>
        </p:nvSpPr>
        <p:spPr>
          <a:xfrm>
            <a:off x="548640" y="1783080"/>
            <a:ext cx="685800" cy="685800"/>
          </a:xfrm>
          <a:prstGeom prst="ellipse">
            <a:avLst/>
          </a:prstGeom>
          <a:solidFill>
            <a:schemeClr val="bg2"/>
          </a:solidFill>
          <a:ln/>
        </p:spPr>
      </p:sp>
      <p:pic>
        <p:nvPicPr>
          <p:cNvPr id="5" name="Image 0" descr="EyeOff icon">    </p:cNvPr>
          <p:cNvPicPr>
            <a:picLocks noChangeAspect="1"/>
          </p:cNvPicPr>
          <p:nvPr/>
        </p:nvPicPr>
        <p:blipFill>
          <a:blip r:embed="rId1"/>
          <a:stretch>
            <a:fillRect/>
          </a:stretch>
        </p:blipFill>
        <p:spPr>
          <a:xfrm>
            <a:off x="720090" y="1954530"/>
            <a:ext cx="342900" cy="342900"/>
          </a:xfrm>
          <a:prstGeom prst="rect">
            <a:avLst/>
          </a:prstGeom>
        </p:spPr>
      </p:pic>
      <p:sp>
        <p:nvSpPr>
          <p:cNvPr id="6" name="Text 3"/>
          <p:cNvSpPr txBox="1"/>
          <p:nvPr/>
        </p:nvSpPr>
        <p:spPr>
          <a:xfrm>
            <a:off x="1463040" y="17647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Hands off at passwords</a:t>
            </a:r>
            <a:endParaRPr lang="en-US" sz="1800" dirty="0"/>
          </a:p>
        </p:txBody>
      </p:sp>
      <p:sp>
        <p:nvSpPr>
          <p:cNvPr id="7" name="Text 4"/>
          <p:cNvSpPr txBox="1"/>
          <p:nvPr/>
        </p:nvSpPr>
        <p:spPr>
          <a:xfrm>
            <a:off x="1463040" y="2167128"/>
            <a:ext cx="4480560" cy="868680"/>
          </a:xfrm>
          <a:prstGeom prst="rect">
            <a:avLst/>
          </a:prstGeom>
          <a:noFill/>
          <a:ln/>
        </p:spPr>
        <p:txBody>
          <a:bodyPr wrap="square" lIns="0" tIns="0" rIns="0" bIns="0" rtlCol="0" anchor="t"/>
          <a:lstStyle/>
          <a:p>
            <a:pPr indent="0" marL="0">
              <a:buNone/>
            </a:pPr>
            <a:r>
              <a:rPr lang="en-US" sz="1400" dirty="0">
                <a:solidFill>
                  <a:schemeClr val="tx1"/>
                </a:solidFill>
              </a:rPr>
              <a:t>On a password, card or SSN field, EWOK stops and says "You type this part, I'll wait." Those screenshots are never stored.</a:t>
            </a:r>
            <a:endParaRPr lang="en-US" sz="1400" dirty="0"/>
          </a:p>
        </p:txBody>
      </p:sp>
      <p:sp>
        <p:nvSpPr>
          <p:cNvPr id="8" name="badge LuScanEye"/>
          <p:cNvSpPr/>
          <p:nvPr/>
        </p:nvSpPr>
        <p:spPr>
          <a:xfrm>
            <a:off x="6263640" y="1783080"/>
            <a:ext cx="685800" cy="685800"/>
          </a:xfrm>
          <a:prstGeom prst="ellipse">
            <a:avLst/>
          </a:prstGeom>
          <a:solidFill>
            <a:schemeClr val="bg2"/>
          </a:solidFill>
          <a:ln/>
        </p:spPr>
      </p:sp>
      <p:pic>
        <p:nvPicPr>
          <p:cNvPr id="9" name="Image 1" descr="ScanEye icon">    </p:cNvPr>
          <p:cNvPicPr>
            <a:picLocks noChangeAspect="1"/>
          </p:cNvPicPr>
          <p:nvPr/>
        </p:nvPicPr>
        <p:blipFill>
          <a:blip r:embed="rId2"/>
          <a:stretch>
            <a:fillRect/>
          </a:stretch>
        </p:blipFill>
        <p:spPr>
          <a:xfrm>
            <a:off x="6435090" y="1954530"/>
            <a:ext cx="342900" cy="342900"/>
          </a:xfrm>
          <a:prstGeom prst="rect">
            <a:avLst/>
          </a:prstGeom>
        </p:spPr>
      </p:pic>
      <p:sp>
        <p:nvSpPr>
          <p:cNvPr id="10" name="Text 6"/>
          <p:cNvSpPr txBox="1"/>
          <p:nvPr/>
        </p:nvSpPr>
        <p:spPr>
          <a:xfrm>
            <a:off x="7178040" y="17647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The screen is untrusted</a:t>
            </a:r>
            <a:endParaRPr lang="en-US" sz="1800" dirty="0"/>
          </a:p>
        </p:txBody>
      </p:sp>
      <p:sp>
        <p:nvSpPr>
          <p:cNvPr id="11" name="Text 7"/>
          <p:cNvSpPr txBox="1"/>
          <p:nvPr/>
        </p:nvSpPr>
        <p:spPr>
          <a:xfrm>
            <a:off x="7178040" y="2167128"/>
            <a:ext cx="4480560" cy="868680"/>
          </a:xfrm>
          <a:prstGeom prst="rect">
            <a:avLst/>
          </a:prstGeom>
          <a:noFill/>
          <a:ln/>
        </p:spPr>
        <p:txBody>
          <a:bodyPr wrap="square" lIns="0" tIns="0" rIns="0" bIns="0" rtlCol="0" anchor="t"/>
          <a:lstStyle/>
          <a:p>
            <a:pPr indent="0" marL="0">
              <a:buNone/>
            </a:pPr>
            <a:r>
              <a:rPr lang="en-US" sz="1400" dirty="0">
                <a:solidFill>
                  <a:schemeClr val="tx1"/>
                </a:solidFill>
              </a:rPr>
              <a:t>A pop-up saying "Call Microsoft now" is data, not an order. It gets scam-checked like any email.</a:t>
            </a:r>
            <a:endParaRPr lang="en-US" sz="1400" dirty="0"/>
          </a:p>
        </p:txBody>
      </p:sp>
      <p:sp>
        <p:nvSpPr>
          <p:cNvPr id="12" name="badge LuMousePointerClick"/>
          <p:cNvSpPr/>
          <p:nvPr/>
        </p:nvSpPr>
        <p:spPr>
          <a:xfrm>
            <a:off x="548640" y="3154680"/>
            <a:ext cx="685800" cy="685800"/>
          </a:xfrm>
          <a:prstGeom prst="ellipse">
            <a:avLst/>
          </a:prstGeom>
          <a:solidFill>
            <a:schemeClr val="bg2"/>
          </a:solidFill>
          <a:ln/>
        </p:spPr>
      </p:sp>
      <p:pic>
        <p:nvPicPr>
          <p:cNvPr id="13" name="Image 2" descr="MousePointerClick icon">    </p:cNvPr>
          <p:cNvPicPr>
            <a:picLocks noChangeAspect="1"/>
          </p:cNvPicPr>
          <p:nvPr/>
        </p:nvPicPr>
        <p:blipFill>
          <a:blip r:embed="rId3"/>
          <a:stretch>
            <a:fillRect/>
          </a:stretch>
        </p:blipFill>
        <p:spPr>
          <a:xfrm>
            <a:off x="720090" y="3326130"/>
            <a:ext cx="342900" cy="342900"/>
          </a:xfrm>
          <a:prstGeom prst="rect">
            <a:avLst/>
          </a:prstGeom>
        </p:spPr>
      </p:pic>
      <p:sp>
        <p:nvSpPr>
          <p:cNvPr id="14" name="Text 9"/>
          <p:cNvSpPr txBox="1"/>
          <p:nvPr/>
        </p:nvSpPr>
        <p:spPr>
          <a:xfrm>
            <a:off x="1463040" y="31363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Consequential clicks confirmed</a:t>
            </a:r>
            <a:endParaRPr lang="en-US" sz="1800" dirty="0"/>
          </a:p>
        </p:txBody>
      </p:sp>
      <p:sp>
        <p:nvSpPr>
          <p:cNvPr id="15" name="Text 10"/>
          <p:cNvSpPr txBox="1"/>
          <p:nvPr/>
        </p:nvSpPr>
        <p:spPr>
          <a:xfrm>
            <a:off x="1463040" y="3538728"/>
            <a:ext cx="4480560" cy="868680"/>
          </a:xfrm>
          <a:prstGeom prst="rect">
            <a:avLst/>
          </a:prstGeom>
          <a:noFill/>
          <a:ln/>
        </p:spPr>
        <p:txBody>
          <a:bodyPr wrap="square" lIns="0" tIns="0" rIns="0" bIns="0" rtlCol="0" anchor="t"/>
          <a:lstStyle/>
          <a:p>
            <a:pPr indent="0" marL="0">
              <a:buNone/>
            </a:pPr>
            <a:r>
              <a:rPr lang="en-US" sz="1400" dirty="0">
                <a:solidFill>
                  <a:schemeClr val="tx1"/>
                </a:solidFill>
              </a:rPr>
              <a:t>Send, Buy, Submit and Delete need a spoken yes: "This sends the email to Dr. Patel's office."</a:t>
            </a:r>
            <a:endParaRPr lang="en-US" sz="1400" dirty="0"/>
          </a:p>
        </p:txBody>
      </p:sp>
      <p:sp>
        <p:nvSpPr>
          <p:cNvPr id="16" name="badge LuGlobe"/>
          <p:cNvSpPr/>
          <p:nvPr/>
        </p:nvSpPr>
        <p:spPr>
          <a:xfrm>
            <a:off x="6263640" y="3154680"/>
            <a:ext cx="685800" cy="685800"/>
          </a:xfrm>
          <a:prstGeom prst="ellipse">
            <a:avLst/>
          </a:prstGeom>
          <a:solidFill>
            <a:schemeClr val="bg2"/>
          </a:solidFill>
          <a:ln/>
        </p:spPr>
      </p:sp>
      <p:pic>
        <p:nvPicPr>
          <p:cNvPr id="17" name="Image 3" descr="Globe icon">    </p:cNvPr>
          <p:cNvPicPr>
            <a:picLocks noChangeAspect="1"/>
          </p:cNvPicPr>
          <p:nvPr/>
        </p:nvPicPr>
        <p:blipFill>
          <a:blip r:embed="rId4"/>
          <a:stretch>
            <a:fillRect/>
          </a:stretch>
        </p:blipFill>
        <p:spPr>
          <a:xfrm>
            <a:off x="6435090" y="3326130"/>
            <a:ext cx="342900" cy="342900"/>
          </a:xfrm>
          <a:prstGeom prst="rect">
            <a:avLst/>
          </a:prstGeom>
        </p:spPr>
      </p:pic>
      <p:sp>
        <p:nvSpPr>
          <p:cNvPr id="18" name="Text 12"/>
          <p:cNvSpPr txBox="1"/>
          <p:nvPr/>
        </p:nvSpPr>
        <p:spPr>
          <a:xfrm>
            <a:off x="7178040" y="31363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Sites on a list</a:t>
            </a:r>
            <a:endParaRPr lang="en-US" sz="1800" dirty="0"/>
          </a:p>
        </p:txBody>
      </p:sp>
      <p:sp>
        <p:nvSpPr>
          <p:cNvPr id="19" name="Text 13"/>
          <p:cNvSpPr txBox="1"/>
          <p:nvPr/>
        </p:nvSpPr>
        <p:spPr>
          <a:xfrm>
            <a:off x="7178040" y="3538728"/>
            <a:ext cx="4480560" cy="868680"/>
          </a:xfrm>
          <a:prstGeom prst="rect">
            <a:avLst/>
          </a:prstGeom>
          <a:noFill/>
          <a:ln/>
        </p:spPr>
        <p:txBody>
          <a:bodyPr wrap="square" lIns="0" tIns="0" rIns="0" bIns="0" rtlCol="0" anchor="t"/>
          <a:lstStyle/>
          <a:p>
            <a:pPr indent="0" marL="0">
              <a:buNone/>
            </a:pPr>
            <a:r>
              <a:rPr lang="en-US" sz="1400" dirty="0">
                <a:solidFill>
                  <a:schemeClr val="tx1"/>
                </a:solidFill>
              </a:rPr>
              <a:t>The browser opens the person's own sites. A new site needs a yes; known scam domains are blocked.</a:t>
            </a:r>
            <a:endParaRPr lang="en-US" sz="1400" dirty="0"/>
          </a:p>
        </p:txBody>
      </p:sp>
      <p:sp>
        <p:nvSpPr>
          <p:cNvPr id="20" name="badge LuListChecks"/>
          <p:cNvSpPr/>
          <p:nvPr/>
        </p:nvSpPr>
        <p:spPr>
          <a:xfrm>
            <a:off x="548640" y="4526280"/>
            <a:ext cx="685800" cy="685800"/>
          </a:xfrm>
          <a:prstGeom prst="ellipse">
            <a:avLst/>
          </a:prstGeom>
          <a:solidFill>
            <a:schemeClr val="bg2"/>
          </a:solidFill>
          <a:ln/>
        </p:spPr>
      </p:sp>
      <p:pic>
        <p:nvPicPr>
          <p:cNvPr id="21" name="Image 4" descr="ListChecks icon">    </p:cNvPr>
          <p:cNvPicPr>
            <a:picLocks noChangeAspect="1"/>
          </p:cNvPicPr>
          <p:nvPr/>
        </p:nvPicPr>
        <p:blipFill>
          <a:blip r:embed="rId5"/>
          <a:stretch>
            <a:fillRect/>
          </a:stretch>
        </p:blipFill>
        <p:spPr>
          <a:xfrm>
            <a:off x="720090" y="4697730"/>
            <a:ext cx="342900" cy="342900"/>
          </a:xfrm>
          <a:prstGeom prst="rect">
            <a:avLst/>
          </a:prstGeom>
        </p:spPr>
      </p:pic>
      <p:sp>
        <p:nvSpPr>
          <p:cNvPr id="22" name="Text 15"/>
          <p:cNvSpPr txBox="1"/>
          <p:nvPr/>
        </p:nvSpPr>
        <p:spPr>
          <a:xfrm>
            <a:off x="1463040" y="45079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A step budget</a:t>
            </a:r>
            <a:endParaRPr lang="en-US" sz="1800" dirty="0"/>
          </a:p>
        </p:txBody>
      </p:sp>
      <p:sp>
        <p:nvSpPr>
          <p:cNvPr id="23" name="Text 16"/>
          <p:cNvSpPr txBox="1"/>
          <p:nvPr/>
        </p:nvSpPr>
        <p:spPr>
          <a:xfrm>
            <a:off x="1463040" y="4910328"/>
            <a:ext cx="4480560" cy="868680"/>
          </a:xfrm>
          <a:prstGeom prst="rect">
            <a:avLst/>
          </a:prstGeom>
          <a:noFill/>
          <a:ln/>
        </p:spPr>
        <p:txBody>
          <a:bodyPr wrap="square" lIns="0" tIns="0" rIns="0" bIns="0" rtlCol="0" anchor="t"/>
          <a:lstStyle/>
          <a:p>
            <a:pPr indent="0" marL="0">
              <a:buNone/>
            </a:pPr>
            <a:r>
              <a:rPr lang="en-US" sz="1400" dirty="0">
                <a:solidFill>
                  <a:schemeClr val="tx1"/>
                </a:solidFill>
              </a:rPr>
              <a:t>A cap on actions per task. After three failed tries, EWOK stops and asks one simple question.</a:t>
            </a:r>
            <a:endParaRPr lang="en-US" sz="1400" dirty="0"/>
          </a:p>
        </p:txBody>
      </p:sp>
      <p:sp>
        <p:nvSpPr>
          <p:cNvPr id="24" name="badge LuHand"/>
          <p:cNvSpPr/>
          <p:nvPr/>
        </p:nvSpPr>
        <p:spPr>
          <a:xfrm>
            <a:off x="6263640" y="4526280"/>
            <a:ext cx="685800" cy="685800"/>
          </a:xfrm>
          <a:prstGeom prst="ellipse">
            <a:avLst/>
          </a:prstGeom>
          <a:solidFill>
            <a:schemeClr val="bg2"/>
          </a:solidFill>
          <a:ln/>
        </p:spPr>
      </p:sp>
      <p:pic>
        <p:nvPicPr>
          <p:cNvPr id="25" name="Image 5" descr="Hand icon">    </p:cNvPr>
          <p:cNvPicPr>
            <a:picLocks noChangeAspect="1"/>
          </p:cNvPicPr>
          <p:nvPr/>
        </p:nvPicPr>
        <p:blipFill>
          <a:blip r:embed="rId6"/>
          <a:stretch>
            <a:fillRect/>
          </a:stretch>
        </p:blipFill>
        <p:spPr>
          <a:xfrm>
            <a:off x="6435090" y="4697730"/>
            <a:ext cx="342900" cy="342900"/>
          </a:xfrm>
          <a:prstGeom prst="rect">
            <a:avLst/>
          </a:prstGeom>
        </p:spPr>
      </p:pic>
      <p:sp>
        <p:nvSpPr>
          <p:cNvPr id="26" name="Text 18"/>
          <p:cNvSpPr txBox="1"/>
          <p:nvPr/>
        </p:nvSpPr>
        <p:spPr>
          <a:xfrm>
            <a:off x="7178040" y="4507992"/>
            <a:ext cx="4480560" cy="384048"/>
          </a:xfrm>
          <a:prstGeom prst="rect">
            <a:avLst/>
          </a:prstGeom>
          <a:noFill/>
          <a:ln/>
        </p:spPr>
        <p:txBody>
          <a:bodyPr wrap="square" lIns="0" tIns="0" rIns="0" bIns="0" rtlCol="0" anchor="t"/>
          <a:lstStyle/>
          <a:p>
            <a:pPr indent="0" marL="0">
              <a:buNone/>
            </a:pPr>
            <a:r>
              <a:rPr lang="en-US" sz="1800" b="1" dirty="0">
                <a:solidFill>
                  <a:schemeClr val="tx1"/>
                </a:solidFill>
              </a:rPr>
              <a:t>"Stop" always wins</a:t>
            </a:r>
            <a:endParaRPr lang="en-US" sz="1800" dirty="0"/>
          </a:p>
        </p:txBody>
      </p:sp>
      <p:sp>
        <p:nvSpPr>
          <p:cNvPr id="27" name="Text 19"/>
          <p:cNvSpPr txBox="1"/>
          <p:nvPr/>
        </p:nvSpPr>
        <p:spPr>
          <a:xfrm>
            <a:off x="7178040" y="4910328"/>
            <a:ext cx="4480560" cy="868680"/>
          </a:xfrm>
          <a:prstGeom prst="rect">
            <a:avLst/>
          </a:prstGeom>
          <a:noFill/>
          <a:ln/>
        </p:spPr>
        <p:txBody>
          <a:bodyPr wrap="square" lIns="0" tIns="0" rIns="0" bIns="0" rtlCol="0" anchor="t"/>
          <a:lstStyle/>
          <a:p>
            <a:pPr indent="0" marL="0">
              <a:buNone/>
            </a:pPr>
            <a:r>
              <a:rPr lang="en-US" sz="1400" dirty="0">
                <a:solidFill>
                  <a:schemeClr val="tx1"/>
                </a:solidFill>
              </a:rPr>
              <a:t>Saying stop, or flinging the mouse to a corner, halts everything instantly.</a:t>
            </a:r>
            <a:endParaRPr lang="en-US" sz="1400" dirty="0"/>
          </a:p>
        </p:txBody>
      </p:sp>
      <p:sp>
        <p:nvSpPr>
          <p:cNvPr id="28" name="Text 20"/>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i="1" dirty="0">
                <a:solidFill>
                  <a:schemeClr val="accent1"/>
                </a:solidFill>
              </a:rPr>
              <a:t>Plus: a separate browser profile with no saved passwords, and the shell tool switched off in EWOK's everyday mode.</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CONNECTORS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Ask by voice, and the right panel opens</a:t>
            </a:r>
            <a:endParaRPr lang="en-US" sz="3600" dirty="0"/>
          </a:p>
        </p:txBody>
      </p:sp>
      <p:sp>
        <p:nvSpPr>
          <p:cNvPr id="4" name="connector Nessie"/>
          <p:cNvSpPr/>
          <p:nvPr/>
        </p:nvSpPr>
        <p:spPr>
          <a:xfrm>
            <a:off x="548640" y="1828800"/>
            <a:ext cx="2606040" cy="2926080"/>
          </a:xfrm>
          <a:prstGeom prst="rect">
            <a:avLst/>
          </a:prstGeom>
          <a:solidFill>
            <a:schemeClr val="bg2"/>
          </a:solidFill>
          <a:ln/>
        </p:spPr>
      </p:sp>
      <p:sp>
        <p:nvSpPr>
          <p:cNvPr id="5" name="badge LuLandmark"/>
          <p:cNvSpPr/>
          <p:nvPr/>
        </p:nvSpPr>
        <p:spPr>
          <a:xfrm>
            <a:off x="822960" y="2103120"/>
            <a:ext cx="731520" cy="731520"/>
          </a:xfrm>
          <a:prstGeom prst="ellipse">
            <a:avLst/>
          </a:prstGeom>
          <a:solidFill>
            <a:schemeClr val="bg1"/>
          </a:solidFill>
          <a:ln/>
        </p:spPr>
      </p:sp>
      <p:pic>
        <p:nvPicPr>
          <p:cNvPr id="6" name="Image 0" descr="Landmark icon">    </p:cNvPr>
          <p:cNvPicPr>
            <a:picLocks noChangeAspect="1"/>
          </p:cNvPicPr>
          <p:nvPr/>
        </p:nvPicPr>
        <p:blipFill>
          <a:blip r:embed="rId1"/>
          <a:stretch>
            <a:fillRect/>
          </a:stretch>
        </p:blipFill>
        <p:spPr>
          <a:xfrm>
            <a:off x="1005840" y="2286000"/>
            <a:ext cx="365760" cy="365760"/>
          </a:xfrm>
          <a:prstGeom prst="rect">
            <a:avLst/>
          </a:prstGeom>
        </p:spPr>
      </p:pic>
      <p:sp>
        <p:nvSpPr>
          <p:cNvPr id="7" name="Text 4"/>
          <p:cNvSpPr txBox="1"/>
          <p:nvPr/>
        </p:nvSpPr>
        <p:spPr>
          <a:xfrm>
            <a:off x="822960" y="3017520"/>
            <a:ext cx="21031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Nessie</a:t>
            </a:r>
            <a:endParaRPr lang="en-US" sz="1900" dirty="0"/>
          </a:p>
        </p:txBody>
      </p:sp>
      <p:sp>
        <p:nvSpPr>
          <p:cNvPr id="8" name="Text 5"/>
          <p:cNvSpPr txBox="1"/>
          <p:nvPr/>
        </p:nvSpPr>
        <p:spPr>
          <a:xfrm>
            <a:off x="822960" y="3474720"/>
            <a:ext cx="2103120" cy="822960"/>
          </a:xfrm>
          <a:prstGeom prst="rect">
            <a:avLst/>
          </a:prstGeom>
          <a:noFill/>
          <a:ln/>
        </p:spPr>
        <p:txBody>
          <a:bodyPr wrap="square" lIns="0" tIns="0" rIns="0" bIns="0" rtlCol="0" anchor="t"/>
          <a:lstStyle/>
          <a:p>
            <a:pPr indent="0" marL="0">
              <a:buNone/>
            </a:pPr>
            <a:r>
              <a:rPr lang="en-US" sz="1400" dirty="0">
                <a:solidFill>
                  <a:schemeClr val="tx1"/>
                </a:solidFill>
              </a:rPr>
              <a:t>Accounts, balances, recent purchases</a:t>
            </a:r>
            <a:endParaRPr lang="en-US" sz="1400" dirty="0"/>
          </a:p>
        </p:txBody>
      </p:sp>
      <p:sp>
        <p:nvSpPr>
          <p:cNvPr id="9" name="Text 6"/>
          <p:cNvSpPr txBox="1"/>
          <p:nvPr/>
        </p:nvSpPr>
        <p:spPr>
          <a:xfrm>
            <a:off x="822960" y="4297680"/>
            <a:ext cx="2103120" cy="320040"/>
          </a:xfrm>
          <a:prstGeom prst="rect">
            <a:avLst/>
          </a:prstGeom>
          <a:noFill/>
          <a:ln/>
        </p:spPr>
        <p:txBody>
          <a:bodyPr wrap="square" lIns="0" tIns="0" rIns="0" bIns="0" rtlCol="0" anchor="t"/>
          <a:lstStyle/>
          <a:p>
            <a:pPr indent="0" marL="0">
              <a:buNone/>
            </a:pPr>
            <a:r>
              <a:rPr lang="en-US" sz="1300" i="1" dirty="0">
                <a:solidFill>
                  <a:schemeClr val="accent1"/>
                </a:solidFill>
              </a:rPr>
              <a:t>Say "nessie"</a:t>
            </a:r>
            <a:endParaRPr lang="en-US" sz="1300" dirty="0"/>
          </a:p>
        </p:txBody>
      </p:sp>
      <p:sp>
        <p:nvSpPr>
          <p:cNvPr id="10" name="connector FinchNode Health"/>
          <p:cNvSpPr/>
          <p:nvPr/>
        </p:nvSpPr>
        <p:spPr>
          <a:xfrm>
            <a:off x="3364992" y="1828800"/>
            <a:ext cx="2606040" cy="2926080"/>
          </a:xfrm>
          <a:prstGeom prst="rect">
            <a:avLst/>
          </a:prstGeom>
          <a:solidFill>
            <a:schemeClr val="bg2"/>
          </a:solidFill>
          <a:ln/>
        </p:spPr>
      </p:sp>
      <p:sp>
        <p:nvSpPr>
          <p:cNvPr id="11" name="badge LuHeartPulse"/>
          <p:cNvSpPr/>
          <p:nvPr/>
        </p:nvSpPr>
        <p:spPr>
          <a:xfrm>
            <a:off x="3639312" y="2103120"/>
            <a:ext cx="731520" cy="731520"/>
          </a:xfrm>
          <a:prstGeom prst="ellipse">
            <a:avLst/>
          </a:prstGeom>
          <a:solidFill>
            <a:schemeClr val="bg1"/>
          </a:solidFill>
          <a:ln/>
        </p:spPr>
      </p:sp>
      <p:pic>
        <p:nvPicPr>
          <p:cNvPr id="12" name="Image 1" descr="HeartPulse icon">    </p:cNvPr>
          <p:cNvPicPr>
            <a:picLocks noChangeAspect="1"/>
          </p:cNvPicPr>
          <p:nvPr/>
        </p:nvPicPr>
        <p:blipFill>
          <a:blip r:embed="rId2"/>
          <a:stretch>
            <a:fillRect/>
          </a:stretch>
        </p:blipFill>
        <p:spPr>
          <a:xfrm>
            <a:off x="3822192" y="2286000"/>
            <a:ext cx="365760" cy="365760"/>
          </a:xfrm>
          <a:prstGeom prst="rect">
            <a:avLst/>
          </a:prstGeom>
        </p:spPr>
      </p:pic>
      <p:sp>
        <p:nvSpPr>
          <p:cNvPr id="13" name="Text 9"/>
          <p:cNvSpPr txBox="1"/>
          <p:nvPr/>
        </p:nvSpPr>
        <p:spPr>
          <a:xfrm>
            <a:off x="3639312" y="3017520"/>
            <a:ext cx="21031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FinchNode Health</a:t>
            </a:r>
            <a:endParaRPr lang="en-US" sz="1900" dirty="0"/>
          </a:p>
        </p:txBody>
      </p:sp>
      <p:sp>
        <p:nvSpPr>
          <p:cNvPr id="14" name="Text 10"/>
          <p:cNvSpPr txBox="1"/>
          <p:nvPr/>
        </p:nvSpPr>
        <p:spPr>
          <a:xfrm>
            <a:off x="3639312" y="3474720"/>
            <a:ext cx="2103120" cy="822960"/>
          </a:xfrm>
          <a:prstGeom prst="rect">
            <a:avLst/>
          </a:prstGeom>
          <a:noFill/>
          <a:ln/>
        </p:spPr>
        <p:txBody>
          <a:bodyPr wrap="square" lIns="0" tIns="0" rIns="0" bIns="0" rtlCol="0" anchor="t"/>
          <a:lstStyle/>
          <a:p>
            <a:pPr indent="0" marL="0">
              <a:buNone/>
            </a:pPr>
            <a:r>
              <a:rPr lang="en-US" sz="1400" dirty="0">
                <a:solidFill>
                  <a:schemeClr val="tx1"/>
                </a:solidFill>
              </a:rPr>
              <a:t>Conditions, medications, labs, vitals, appointments</a:t>
            </a:r>
            <a:endParaRPr lang="en-US" sz="1400" dirty="0"/>
          </a:p>
        </p:txBody>
      </p:sp>
      <p:sp>
        <p:nvSpPr>
          <p:cNvPr id="15" name="Text 11"/>
          <p:cNvSpPr txBox="1"/>
          <p:nvPr/>
        </p:nvSpPr>
        <p:spPr>
          <a:xfrm>
            <a:off x="3639312" y="4297680"/>
            <a:ext cx="2103120" cy="320040"/>
          </a:xfrm>
          <a:prstGeom prst="rect">
            <a:avLst/>
          </a:prstGeom>
          <a:noFill/>
          <a:ln/>
        </p:spPr>
        <p:txBody>
          <a:bodyPr wrap="square" lIns="0" tIns="0" rIns="0" bIns="0" rtlCol="0" anchor="t"/>
          <a:lstStyle/>
          <a:p>
            <a:pPr indent="0" marL="0">
              <a:buNone/>
            </a:pPr>
            <a:r>
              <a:rPr lang="en-US" sz="1300" i="1" dirty="0">
                <a:solidFill>
                  <a:schemeClr val="accent1"/>
                </a:solidFill>
              </a:rPr>
              <a:t>Say "health"</a:t>
            </a:r>
            <a:endParaRPr lang="en-US" sz="1300" dirty="0"/>
          </a:p>
        </p:txBody>
      </p:sp>
      <p:sp>
        <p:nvSpPr>
          <p:cNvPr id="16" name="connector Calendar"/>
          <p:cNvSpPr/>
          <p:nvPr/>
        </p:nvSpPr>
        <p:spPr>
          <a:xfrm>
            <a:off x="6181344" y="1828800"/>
            <a:ext cx="2606040" cy="2926080"/>
          </a:xfrm>
          <a:prstGeom prst="rect">
            <a:avLst/>
          </a:prstGeom>
          <a:solidFill>
            <a:schemeClr val="bg2"/>
          </a:solidFill>
          <a:ln/>
        </p:spPr>
      </p:sp>
      <p:sp>
        <p:nvSpPr>
          <p:cNvPr id="17" name="badge LuCalendar"/>
          <p:cNvSpPr/>
          <p:nvPr/>
        </p:nvSpPr>
        <p:spPr>
          <a:xfrm>
            <a:off x="6455664" y="2103120"/>
            <a:ext cx="731520" cy="731520"/>
          </a:xfrm>
          <a:prstGeom prst="ellipse">
            <a:avLst/>
          </a:prstGeom>
          <a:solidFill>
            <a:schemeClr val="bg1"/>
          </a:solidFill>
          <a:ln/>
        </p:spPr>
      </p:sp>
      <p:pic>
        <p:nvPicPr>
          <p:cNvPr id="18" name="Image 2" descr="Calendar icon">    </p:cNvPr>
          <p:cNvPicPr>
            <a:picLocks noChangeAspect="1"/>
          </p:cNvPicPr>
          <p:nvPr/>
        </p:nvPicPr>
        <p:blipFill>
          <a:blip r:embed="rId3"/>
          <a:stretch>
            <a:fillRect/>
          </a:stretch>
        </p:blipFill>
        <p:spPr>
          <a:xfrm>
            <a:off x="6638544" y="2286000"/>
            <a:ext cx="365760" cy="365760"/>
          </a:xfrm>
          <a:prstGeom prst="rect">
            <a:avLst/>
          </a:prstGeom>
        </p:spPr>
      </p:pic>
      <p:sp>
        <p:nvSpPr>
          <p:cNvPr id="19" name="Text 14"/>
          <p:cNvSpPr txBox="1"/>
          <p:nvPr/>
        </p:nvSpPr>
        <p:spPr>
          <a:xfrm>
            <a:off x="6455664" y="3017520"/>
            <a:ext cx="21031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Calendar</a:t>
            </a:r>
            <a:endParaRPr lang="en-US" sz="1900" dirty="0"/>
          </a:p>
        </p:txBody>
      </p:sp>
      <p:sp>
        <p:nvSpPr>
          <p:cNvPr id="20" name="Text 15"/>
          <p:cNvSpPr txBox="1"/>
          <p:nvPr/>
        </p:nvSpPr>
        <p:spPr>
          <a:xfrm>
            <a:off x="6455664" y="3474720"/>
            <a:ext cx="2103120" cy="822960"/>
          </a:xfrm>
          <a:prstGeom prst="rect">
            <a:avLst/>
          </a:prstGeom>
          <a:noFill/>
          <a:ln/>
        </p:spPr>
        <p:txBody>
          <a:bodyPr wrap="square" lIns="0" tIns="0" rIns="0" bIns="0" rtlCol="0" anchor="t"/>
          <a:lstStyle/>
          <a:p>
            <a:pPr indent="0" marL="0">
              <a:buNone/>
            </a:pPr>
            <a:r>
              <a:rPr lang="en-US" sz="1400" dirty="0">
                <a:solidFill>
                  <a:schemeClr val="tx1"/>
                </a:solidFill>
              </a:rPr>
              <a:t>Upcoming events</a:t>
            </a:r>
            <a:endParaRPr lang="en-US" sz="1400" dirty="0"/>
          </a:p>
        </p:txBody>
      </p:sp>
      <p:sp>
        <p:nvSpPr>
          <p:cNvPr id="21" name="Text 16"/>
          <p:cNvSpPr txBox="1"/>
          <p:nvPr/>
        </p:nvSpPr>
        <p:spPr>
          <a:xfrm>
            <a:off x="6455664" y="4297680"/>
            <a:ext cx="2103120" cy="320040"/>
          </a:xfrm>
          <a:prstGeom prst="rect">
            <a:avLst/>
          </a:prstGeom>
          <a:noFill/>
          <a:ln/>
        </p:spPr>
        <p:txBody>
          <a:bodyPr wrap="square" lIns="0" tIns="0" rIns="0" bIns="0" rtlCol="0" anchor="t"/>
          <a:lstStyle/>
          <a:p>
            <a:pPr indent="0" marL="0">
              <a:buNone/>
            </a:pPr>
            <a:r>
              <a:rPr lang="en-US" sz="1300" i="1" dirty="0">
                <a:solidFill>
                  <a:schemeClr val="accent1"/>
                </a:solidFill>
              </a:rPr>
              <a:t>Say "calendar"</a:t>
            </a:r>
            <a:endParaRPr lang="en-US" sz="1300" dirty="0"/>
          </a:p>
        </p:txBody>
      </p:sp>
      <p:sp>
        <p:nvSpPr>
          <p:cNvPr id="22" name="connector Add a connector"/>
          <p:cNvSpPr/>
          <p:nvPr/>
        </p:nvSpPr>
        <p:spPr>
          <a:xfrm>
            <a:off x="8997696" y="1828800"/>
            <a:ext cx="2606040" cy="2926080"/>
          </a:xfrm>
          <a:prstGeom prst="rect">
            <a:avLst/>
          </a:prstGeom>
          <a:solidFill>
            <a:schemeClr val="bg2"/>
          </a:solidFill>
          <a:ln/>
        </p:spPr>
      </p:sp>
      <p:sp>
        <p:nvSpPr>
          <p:cNvPr id="23" name="badge LuPlus"/>
          <p:cNvSpPr/>
          <p:nvPr/>
        </p:nvSpPr>
        <p:spPr>
          <a:xfrm>
            <a:off x="9272016" y="2103120"/>
            <a:ext cx="731520" cy="731520"/>
          </a:xfrm>
          <a:prstGeom prst="ellipse">
            <a:avLst/>
          </a:prstGeom>
          <a:solidFill>
            <a:schemeClr val="bg1"/>
          </a:solidFill>
          <a:ln/>
        </p:spPr>
      </p:sp>
      <p:pic>
        <p:nvPicPr>
          <p:cNvPr id="24" name="Image 3" descr="Plus icon">    </p:cNvPr>
          <p:cNvPicPr>
            <a:picLocks noChangeAspect="1"/>
          </p:cNvPicPr>
          <p:nvPr/>
        </p:nvPicPr>
        <p:blipFill>
          <a:blip r:embed="rId4"/>
          <a:stretch>
            <a:fillRect/>
          </a:stretch>
        </p:blipFill>
        <p:spPr>
          <a:xfrm>
            <a:off x="9454896" y="2286000"/>
            <a:ext cx="365760" cy="365760"/>
          </a:xfrm>
          <a:prstGeom prst="rect">
            <a:avLst/>
          </a:prstGeom>
        </p:spPr>
      </p:pic>
      <p:sp>
        <p:nvSpPr>
          <p:cNvPr id="25" name="Text 19"/>
          <p:cNvSpPr txBox="1"/>
          <p:nvPr/>
        </p:nvSpPr>
        <p:spPr>
          <a:xfrm>
            <a:off x="9272016" y="3017520"/>
            <a:ext cx="21031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Add a connector</a:t>
            </a:r>
            <a:endParaRPr lang="en-US" sz="1900" dirty="0"/>
          </a:p>
        </p:txBody>
      </p:sp>
      <p:sp>
        <p:nvSpPr>
          <p:cNvPr id="26" name="Text 20"/>
          <p:cNvSpPr txBox="1"/>
          <p:nvPr/>
        </p:nvSpPr>
        <p:spPr>
          <a:xfrm>
            <a:off x="9272016" y="3474720"/>
            <a:ext cx="2103120" cy="822960"/>
          </a:xfrm>
          <a:prstGeom prst="rect">
            <a:avLst/>
          </a:prstGeom>
          <a:noFill/>
          <a:ln/>
        </p:spPr>
        <p:txBody>
          <a:bodyPr wrap="square" lIns="0" tIns="0" rIns="0" bIns="0" rtlCol="0" anchor="t"/>
          <a:lstStyle/>
          <a:p>
            <a:pPr indent="0" marL="0">
              <a:buNone/>
            </a:pPr>
            <a:r>
              <a:rPr lang="en-US" sz="1400" dirty="0">
                <a:solidFill>
                  <a:schemeClr val="tx1"/>
                </a:solidFill>
              </a:rPr>
              <a:t>More can be added. Suggest one.</a:t>
            </a:r>
            <a:endParaRPr lang="en-US" sz="1400" dirty="0"/>
          </a:p>
        </p:txBody>
      </p:sp>
      <p:sp>
        <p:nvSpPr>
          <p:cNvPr id="27" name="Text 21"/>
          <p:cNvSpPr txBox="1"/>
          <p:nvPr/>
        </p:nvSpPr>
        <p:spPr>
          <a:xfrm>
            <a:off x="548640" y="5074920"/>
            <a:ext cx="1106424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Combined: </a:t>
            </a:r>
            <a:pPr indent="0" marL="0">
              <a:buNone/>
            </a:pPr>
            <a:r>
              <a:rPr lang="en-US" sz="1800" dirty="0">
                <a:solidFill>
                  <a:schemeClr val="tx1"/>
                </a:solidFill>
                <a:latin typeface="Cambria" pitchFamily="34" charset="0"/>
                <a:ea typeface="Cambria" pitchFamily="34" charset="-122"/>
                <a:cs typeface="Cambria" pitchFamily="34" charset="-120"/>
              </a:rPr>
              <a:t>"How much do my medications cost me?" pulls from health records and banking together.</a:t>
            </a:r>
            <a:endParaRPr lang="en-US" sz="1800" dirty="0"/>
          </a:p>
        </p:txBody>
      </p:sp>
      <p:sp>
        <p:nvSpPr>
          <p:cNvPr id="28" name="Text 22"/>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200" i="1" dirty="0">
                <a:solidFill>
                  <a:schemeClr val="tx1"/>
                </a:solidFill>
              </a:rPr>
              <a:t>Nessie (Capital One mock bank) and FinchNode (synthetic patient records) are sample data and are labeled that way in the UI.</a:t>
            </a:r>
            <a:endParaRPr lang="en-US" sz="12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USE CASES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What a day with EWOK looks like</a:t>
            </a:r>
            <a:endParaRPr lang="en-US" sz="3600" dirty="0"/>
          </a:p>
        </p:txBody>
      </p:sp>
      <p:sp>
        <p:nvSpPr>
          <p:cNvPr id="4" name="use case Medications"/>
          <p:cNvSpPr/>
          <p:nvPr/>
        </p:nvSpPr>
        <p:spPr>
          <a:xfrm>
            <a:off x="548640" y="1828800"/>
            <a:ext cx="3474720" cy="1965960"/>
          </a:xfrm>
          <a:prstGeom prst="rect">
            <a:avLst/>
          </a:prstGeom>
          <a:solidFill>
            <a:schemeClr val="bg2"/>
          </a:solidFill>
          <a:ln/>
        </p:spPr>
      </p:sp>
      <p:sp>
        <p:nvSpPr>
          <p:cNvPr id="5" name="badge LuPill"/>
          <p:cNvSpPr/>
          <p:nvPr/>
        </p:nvSpPr>
        <p:spPr>
          <a:xfrm>
            <a:off x="822960" y="2103120"/>
            <a:ext cx="594360" cy="594360"/>
          </a:xfrm>
          <a:prstGeom prst="ellipse">
            <a:avLst/>
          </a:prstGeom>
          <a:solidFill>
            <a:schemeClr val="bg1"/>
          </a:solidFill>
          <a:ln/>
        </p:spPr>
      </p:sp>
      <p:pic>
        <p:nvPicPr>
          <p:cNvPr id="6" name="Image 0" descr="Pill icon">    </p:cNvPr>
          <p:cNvPicPr>
            <a:picLocks noChangeAspect="1"/>
          </p:cNvPicPr>
          <p:nvPr/>
        </p:nvPicPr>
        <p:blipFill>
          <a:blip r:embed="rId1"/>
          <a:stretch>
            <a:fillRect/>
          </a:stretch>
        </p:blipFill>
        <p:spPr>
          <a:xfrm>
            <a:off x="971550" y="2251710"/>
            <a:ext cx="297180" cy="297180"/>
          </a:xfrm>
          <a:prstGeom prst="rect">
            <a:avLst/>
          </a:prstGeom>
        </p:spPr>
      </p:pic>
      <p:sp>
        <p:nvSpPr>
          <p:cNvPr id="7" name="Text 4"/>
          <p:cNvSpPr txBox="1"/>
          <p:nvPr/>
        </p:nvSpPr>
        <p:spPr>
          <a:xfrm>
            <a:off x="1600200" y="21762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Medications</a:t>
            </a:r>
            <a:endParaRPr lang="en-US" sz="1800" dirty="0"/>
          </a:p>
        </p:txBody>
      </p:sp>
      <p:sp>
        <p:nvSpPr>
          <p:cNvPr id="8" name="Text 5"/>
          <p:cNvSpPr txBox="1"/>
          <p:nvPr/>
        </p:nvSpPr>
        <p:spPr>
          <a:xfrm>
            <a:off x="822960" y="2834640"/>
            <a:ext cx="2971800" cy="868680"/>
          </a:xfrm>
          <a:prstGeom prst="rect">
            <a:avLst/>
          </a:prstGeom>
          <a:noFill/>
          <a:ln/>
        </p:spPr>
        <p:txBody>
          <a:bodyPr wrap="square" lIns="0" tIns="0" rIns="0" bIns="0" rtlCol="0" anchor="t"/>
          <a:lstStyle/>
          <a:p>
            <a:pPr indent="0" marL="0">
              <a:buNone/>
            </a:pPr>
            <a:r>
              <a:rPr lang="en-US" sz="1400" dirty="0">
                <a:solidFill>
                  <a:schemeClr val="tx1"/>
                </a:solidFill>
              </a:rPr>
              <a:t>"What am I on, and when's my next refill?" Then a reminder, set by voice.</a:t>
            </a:r>
            <a:endParaRPr lang="en-US" sz="1400" dirty="0"/>
          </a:p>
        </p:txBody>
      </p:sp>
      <p:sp>
        <p:nvSpPr>
          <p:cNvPr id="9" name="use case Understanding money"/>
          <p:cNvSpPr/>
          <p:nvPr/>
        </p:nvSpPr>
        <p:spPr>
          <a:xfrm>
            <a:off x="4297680" y="1828800"/>
            <a:ext cx="3474720" cy="1965960"/>
          </a:xfrm>
          <a:prstGeom prst="rect">
            <a:avLst/>
          </a:prstGeom>
          <a:solidFill>
            <a:schemeClr val="bg2"/>
          </a:solidFill>
          <a:ln/>
        </p:spPr>
      </p:sp>
      <p:sp>
        <p:nvSpPr>
          <p:cNvPr id="10" name="badge LuWallet"/>
          <p:cNvSpPr/>
          <p:nvPr/>
        </p:nvSpPr>
        <p:spPr>
          <a:xfrm>
            <a:off x="4572000" y="2103120"/>
            <a:ext cx="594360" cy="594360"/>
          </a:xfrm>
          <a:prstGeom prst="ellipse">
            <a:avLst/>
          </a:prstGeom>
          <a:solidFill>
            <a:schemeClr val="bg1"/>
          </a:solidFill>
          <a:ln/>
        </p:spPr>
      </p:sp>
      <p:pic>
        <p:nvPicPr>
          <p:cNvPr id="11" name="Image 1" descr="Wallet icon">    </p:cNvPr>
          <p:cNvPicPr>
            <a:picLocks noChangeAspect="1"/>
          </p:cNvPicPr>
          <p:nvPr/>
        </p:nvPicPr>
        <p:blipFill>
          <a:blip r:embed="rId2"/>
          <a:stretch>
            <a:fillRect/>
          </a:stretch>
        </p:blipFill>
        <p:spPr>
          <a:xfrm>
            <a:off x="4720590" y="2251710"/>
            <a:ext cx="297180" cy="297180"/>
          </a:xfrm>
          <a:prstGeom prst="rect">
            <a:avLst/>
          </a:prstGeom>
        </p:spPr>
      </p:pic>
      <p:sp>
        <p:nvSpPr>
          <p:cNvPr id="12" name="Text 8"/>
          <p:cNvSpPr txBox="1"/>
          <p:nvPr/>
        </p:nvSpPr>
        <p:spPr>
          <a:xfrm>
            <a:off x="5349240" y="21762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Understanding money</a:t>
            </a:r>
            <a:endParaRPr lang="en-US" sz="1800" dirty="0"/>
          </a:p>
        </p:txBody>
      </p:sp>
      <p:sp>
        <p:nvSpPr>
          <p:cNvPr id="13" name="Text 9"/>
          <p:cNvSpPr txBox="1"/>
          <p:nvPr/>
        </p:nvSpPr>
        <p:spPr>
          <a:xfrm>
            <a:off x="4572000" y="2834640"/>
            <a:ext cx="2971800" cy="868680"/>
          </a:xfrm>
          <a:prstGeom prst="rect">
            <a:avLst/>
          </a:prstGeom>
          <a:noFill/>
          <a:ln/>
        </p:spPr>
        <p:txBody>
          <a:bodyPr wrap="square" lIns="0" tIns="0" rIns="0" bIns="0" rtlCol="0" anchor="t"/>
          <a:lstStyle/>
          <a:p>
            <a:pPr indent="0" marL="0">
              <a:buNone/>
            </a:pPr>
            <a:r>
              <a:rPr lang="en-US" sz="1400" dirty="0">
                <a:solidFill>
                  <a:schemeClr val="tx1"/>
                </a:solidFill>
              </a:rPr>
              <a:t>"Did I pay for Netflix this month?" Read back in plain English.</a:t>
            </a:r>
            <a:endParaRPr lang="en-US" sz="1400" dirty="0"/>
          </a:p>
        </p:txBody>
      </p:sp>
      <p:sp>
        <p:nvSpPr>
          <p:cNvPr id="14" name="use case Appointments"/>
          <p:cNvSpPr/>
          <p:nvPr/>
        </p:nvSpPr>
        <p:spPr>
          <a:xfrm>
            <a:off x="8046720" y="1828800"/>
            <a:ext cx="3474720" cy="1965960"/>
          </a:xfrm>
          <a:prstGeom prst="rect">
            <a:avLst/>
          </a:prstGeom>
          <a:solidFill>
            <a:schemeClr val="bg2"/>
          </a:solidFill>
          <a:ln/>
        </p:spPr>
      </p:sp>
      <p:sp>
        <p:nvSpPr>
          <p:cNvPr id="15" name="badge LuCalendar"/>
          <p:cNvSpPr/>
          <p:nvPr/>
        </p:nvSpPr>
        <p:spPr>
          <a:xfrm>
            <a:off x="8321040" y="2103120"/>
            <a:ext cx="594360" cy="594360"/>
          </a:xfrm>
          <a:prstGeom prst="ellipse">
            <a:avLst/>
          </a:prstGeom>
          <a:solidFill>
            <a:schemeClr val="bg1"/>
          </a:solidFill>
          <a:ln/>
        </p:spPr>
      </p:sp>
      <p:pic>
        <p:nvPicPr>
          <p:cNvPr id="16" name="Image 2" descr="Calendar icon">    </p:cNvPr>
          <p:cNvPicPr>
            <a:picLocks noChangeAspect="1"/>
          </p:cNvPicPr>
          <p:nvPr/>
        </p:nvPicPr>
        <p:blipFill>
          <a:blip r:embed="rId3"/>
          <a:stretch>
            <a:fillRect/>
          </a:stretch>
        </p:blipFill>
        <p:spPr>
          <a:xfrm>
            <a:off x="8469630" y="2251710"/>
            <a:ext cx="297180" cy="297180"/>
          </a:xfrm>
          <a:prstGeom prst="rect">
            <a:avLst/>
          </a:prstGeom>
        </p:spPr>
      </p:pic>
      <p:sp>
        <p:nvSpPr>
          <p:cNvPr id="17" name="Text 12"/>
          <p:cNvSpPr txBox="1"/>
          <p:nvPr/>
        </p:nvSpPr>
        <p:spPr>
          <a:xfrm>
            <a:off x="9098280" y="21762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Appointments</a:t>
            </a:r>
            <a:endParaRPr lang="en-US" sz="1800" dirty="0"/>
          </a:p>
        </p:txBody>
      </p:sp>
      <p:sp>
        <p:nvSpPr>
          <p:cNvPr id="18" name="Text 13"/>
          <p:cNvSpPr txBox="1"/>
          <p:nvPr/>
        </p:nvSpPr>
        <p:spPr>
          <a:xfrm>
            <a:off x="8321040" y="2834640"/>
            <a:ext cx="2971800" cy="868680"/>
          </a:xfrm>
          <a:prstGeom prst="rect">
            <a:avLst/>
          </a:prstGeom>
          <a:noFill/>
          <a:ln/>
        </p:spPr>
        <p:txBody>
          <a:bodyPr wrap="square" lIns="0" tIns="0" rIns="0" bIns="0" rtlCol="0" anchor="t"/>
          <a:lstStyle/>
          <a:p>
            <a:pPr indent="0" marL="0">
              <a:buNone/>
            </a:pPr>
            <a:r>
              <a:rPr lang="en-US" sz="1400" dirty="0">
                <a:solidFill>
                  <a:schemeClr val="tx1"/>
                </a:solidFill>
              </a:rPr>
              <a:t>"What's on my calendar this week?" Read aloud, with reminders.</a:t>
            </a:r>
            <a:endParaRPr lang="en-US" sz="1400" dirty="0"/>
          </a:p>
        </p:txBody>
      </p:sp>
      <p:sp>
        <p:nvSpPr>
          <p:cNvPr id="19" name="use case Scam second opinion"/>
          <p:cNvSpPr/>
          <p:nvPr/>
        </p:nvSpPr>
        <p:spPr>
          <a:xfrm>
            <a:off x="548640" y="4023360"/>
            <a:ext cx="3474720" cy="1965960"/>
          </a:xfrm>
          <a:prstGeom prst="rect">
            <a:avLst/>
          </a:prstGeom>
          <a:solidFill>
            <a:schemeClr val="bg2"/>
          </a:solidFill>
          <a:ln/>
        </p:spPr>
      </p:sp>
      <p:sp>
        <p:nvSpPr>
          <p:cNvPr id="20" name="badge LuShieldCheck"/>
          <p:cNvSpPr/>
          <p:nvPr/>
        </p:nvSpPr>
        <p:spPr>
          <a:xfrm>
            <a:off x="822960" y="4297680"/>
            <a:ext cx="594360" cy="594360"/>
          </a:xfrm>
          <a:prstGeom prst="ellipse">
            <a:avLst/>
          </a:prstGeom>
          <a:solidFill>
            <a:schemeClr val="bg1"/>
          </a:solidFill>
          <a:ln/>
        </p:spPr>
      </p:sp>
      <p:pic>
        <p:nvPicPr>
          <p:cNvPr id="21" name="Image 3" descr="ShieldCheck icon">    </p:cNvPr>
          <p:cNvPicPr>
            <a:picLocks noChangeAspect="1"/>
          </p:cNvPicPr>
          <p:nvPr/>
        </p:nvPicPr>
        <p:blipFill>
          <a:blip r:embed="rId4"/>
          <a:stretch>
            <a:fillRect/>
          </a:stretch>
        </p:blipFill>
        <p:spPr>
          <a:xfrm>
            <a:off x="971550" y="4446270"/>
            <a:ext cx="297180" cy="297180"/>
          </a:xfrm>
          <a:prstGeom prst="rect">
            <a:avLst/>
          </a:prstGeom>
        </p:spPr>
      </p:pic>
      <p:sp>
        <p:nvSpPr>
          <p:cNvPr id="22" name="Text 16"/>
          <p:cNvSpPr txBox="1"/>
          <p:nvPr/>
        </p:nvSpPr>
        <p:spPr>
          <a:xfrm>
            <a:off x="1600200" y="43708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Scam second opinion</a:t>
            </a:r>
            <a:endParaRPr lang="en-US" sz="1800" dirty="0"/>
          </a:p>
        </p:txBody>
      </p:sp>
      <p:sp>
        <p:nvSpPr>
          <p:cNvPr id="23" name="Text 17"/>
          <p:cNvSpPr txBox="1"/>
          <p:nvPr/>
        </p:nvSpPr>
        <p:spPr>
          <a:xfrm>
            <a:off x="822960" y="5029200"/>
            <a:ext cx="2971800" cy="868680"/>
          </a:xfrm>
          <a:prstGeom prst="rect">
            <a:avLst/>
          </a:prstGeom>
          <a:noFill/>
          <a:ln/>
        </p:spPr>
        <p:txBody>
          <a:bodyPr wrap="square" lIns="0" tIns="0" rIns="0" bIns="0" rtlCol="0" anchor="t"/>
          <a:lstStyle/>
          <a:p>
            <a:pPr indent="0" marL="0">
              <a:buNone/>
            </a:pPr>
            <a:r>
              <a:rPr lang="en-US" sz="1400" dirty="0">
                <a:solidFill>
                  <a:schemeClr val="tx1"/>
                </a:solidFill>
              </a:rPr>
              <a:t>Forward a suspicious email. EWOK explains the red flags.</a:t>
            </a:r>
            <a:endParaRPr lang="en-US" sz="1400" dirty="0"/>
          </a:p>
        </p:txBody>
      </p:sp>
      <p:sp>
        <p:nvSpPr>
          <p:cNvPr id="24" name="use case Email and the computer"/>
          <p:cNvSpPr/>
          <p:nvPr/>
        </p:nvSpPr>
        <p:spPr>
          <a:xfrm>
            <a:off x="4297680" y="4023360"/>
            <a:ext cx="3474720" cy="1965960"/>
          </a:xfrm>
          <a:prstGeom prst="rect">
            <a:avLst/>
          </a:prstGeom>
          <a:solidFill>
            <a:schemeClr val="bg2"/>
          </a:solidFill>
          <a:ln/>
        </p:spPr>
      </p:sp>
      <p:sp>
        <p:nvSpPr>
          <p:cNvPr id="25" name="badge LuMonitor"/>
          <p:cNvSpPr/>
          <p:nvPr/>
        </p:nvSpPr>
        <p:spPr>
          <a:xfrm>
            <a:off x="4572000" y="4297680"/>
            <a:ext cx="594360" cy="594360"/>
          </a:xfrm>
          <a:prstGeom prst="ellipse">
            <a:avLst/>
          </a:prstGeom>
          <a:solidFill>
            <a:schemeClr val="bg1"/>
          </a:solidFill>
          <a:ln/>
        </p:spPr>
      </p:sp>
      <p:pic>
        <p:nvPicPr>
          <p:cNvPr id="26" name="Image 4" descr="Monitor icon">    </p:cNvPr>
          <p:cNvPicPr>
            <a:picLocks noChangeAspect="1"/>
          </p:cNvPicPr>
          <p:nvPr/>
        </p:nvPicPr>
        <p:blipFill>
          <a:blip r:embed="rId5"/>
          <a:stretch>
            <a:fillRect/>
          </a:stretch>
        </p:blipFill>
        <p:spPr>
          <a:xfrm>
            <a:off x="4720590" y="4446270"/>
            <a:ext cx="297180" cy="297180"/>
          </a:xfrm>
          <a:prstGeom prst="rect">
            <a:avLst/>
          </a:prstGeom>
        </p:spPr>
      </p:pic>
      <p:sp>
        <p:nvSpPr>
          <p:cNvPr id="27" name="Text 20"/>
          <p:cNvSpPr txBox="1"/>
          <p:nvPr/>
        </p:nvSpPr>
        <p:spPr>
          <a:xfrm>
            <a:off x="5349240" y="43708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Email and the computer</a:t>
            </a:r>
            <a:endParaRPr lang="en-US" sz="1800" dirty="0"/>
          </a:p>
        </p:txBody>
      </p:sp>
      <p:sp>
        <p:nvSpPr>
          <p:cNvPr id="28" name="Text 21"/>
          <p:cNvSpPr txBox="1"/>
          <p:nvPr/>
        </p:nvSpPr>
        <p:spPr>
          <a:xfrm>
            <a:off x="4572000" y="5029200"/>
            <a:ext cx="2971800" cy="868680"/>
          </a:xfrm>
          <a:prstGeom prst="rect">
            <a:avLst/>
          </a:prstGeom>
          <a:noFill/>
          <a:ln/>
        </p:spPr>
        <p:txBody>
          <a:bodyPr wrap="square" lIns="0" tIns="0" rIns="0" bIns="0" rtlCol="0" anchor="t"/>
          <a:lstStyle/>
          <a:p>
            <a:pPr indent="0" marL="0">
              <a:buNone/>
            </a:pPr>
            <a:r>
              <a:rPr lang="en-US" sz="1400" dirty="0">
                <a:solidFill>
                  <a:schemeClr val="tx1"/>
                </a:solidFill>
              </a:rPr>
              <a:t>"Open my email." EWOK drives the desktop and browser for them.</a:t>
            </a:r>
            <a:endParaRPr lang="en-US" sz="1400" dirty="0"/>
          </a:p>
        </p:txBody>
      </p:sp>
      <p:sp>
        <p:nvSpPr>
          <p:cNvPr id="29" name="use case Reminders and routines"/>
          <p:cNvSpPr/>
          <p:nvPr/>
        </p:nvSpPr>
        <p:spPr>
          <a:xfrm>
            <a:off x="8046720" y="4023360"/>
            <a:ext cx="3474720" cy="1965960"/>
          </a:xfrm>
          <a:prstGeom prst="rect">
            <a:avLst/>
          </a:prstGeom>
          <a:solidFill>
            <a:schemeClr val="bg2"/>
          </a:solidFill>
          <a:ln/>
        </p:spPr>
      </p:sp>
      <p:sp>
        <p:nvSpPr>
          <p:cNvPr id="30" name="badge LuBell"/>
          <p:cNvSpPr/>
          <p:nvPr/>
        </p:nvSpPr>
        <p:spPr>
          <a:xfrm>
            <a:off x="8321040" y="4297680"/>
            <a:ext cx="594360" cy="594360"/>
          </a:xfrm>
          <a:prstGeom prst="ellipse">
            <a:avLst/>
          </a:prstGeom>
          <a:solidFill>
            <a:schemeClr val="bg1"/>
          </a:solidFill>
          <a:ln/>
        </p:spPr>
      </p:sp>
      <p:pic>
        <p:nvPicPr>
          <p:cNvPr id="31" name="Image 5" descr="Bell icon">    </p:cNvPr>
          <p:cNvPicPr>
            <a:picLocks noChangeAspect="1"/>
          </p:cNvPicPr>
          <p:nvPr/>
        </p:nvPicPr>
        <p:blipFill>
          <a:blip r:embed="rId6"/>
          <a:stretch>
            <a:fillRect/>
          </a:stretch>
        </p:blipFill>
        <p:spPr>
          <a:xfrm>
            <a:off x="8469630" y="4446270"/>
            <a:ext cx="297180" cy="297180"/>
          </a:xfrm>
          <a:prstGeom prst="rect">
            <a:avLst/>
          </a:prstGeom>
        </p:spPr>
      </p:pic>
      <p:sp>
        <p:nvSpPr>
          <p:cNvPr id="32" name="Text 24"/>
          <p:cNvSpPr txBox="1"/>
          <p:nvPr/>
        </p:nvSpPr>
        <p:spPr>
          <a:xfrm>
            <a:off x="9098280" y="43708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Reminders and routines</a:t>
            </a:r>
            <a:endParaRPr lang="en-US" sz="1800" dirty="0"/>
          </a:p>
        </p:txBody>
      </p:sp>
      <p:sp>
        <p:nvSpPr>
          <p:cNvPr id="33" name="Text 25"/>
          <p:cNvSpPr txBox="1"/>
          <p:nvPr/>
        </p:nvSpPr>
        <p:spPr>
          <a:xfrm>
            <a:off x="8321040" y="5029200"/>
            <a:ext cx="2971800" cy="868680"/>
          </a:xfrm>
          <a:prstGeom prst="rect">
            <a:avLst/>
          </a:prstGeom>
          <a:noFill/>
          <a:ln/>
        </p:spPr>
        <p:txBody>
          <a:bodyPr wrap="square" lIns="0" tIns="0" rIns="0" bIns="0" rtlCol="0" anchor="t"/>
          <a:lstStyle/>
          <a:p>
            <a:pPr indent="0" marL="0">
              <a:buNone/>
            </a:pPr>
            <a:r>
              <a:rPr lang="en-US" sz="1400" dirty="0">
                <a:solidFill>
                  <a:schemeClr val="tx1"/>
                </a:solidFill>
              </a:rPr>
              <a:t>"Remind me to take my pills at 8." Automations run on their own.</a:t>
            </a:r>
            <a:endParaRPr lang="en-US" sz="14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HOW IT WORKS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Six layers, with policy outside the model</a:t>
            </a:r>
            <a:endParaRPr lang="en-US" sz="3600" dirty="0"/>
          </a:p>
        </p:txBody>
      </p:sp>
      <p:sp>
        <p:nvSpPr>
          <p:cNvPr id="4" name="layer Interface"/>
          <p:cNvSpPr/>
          <p:nvPr/>
        </p:nvSpPr>
        <p:spPr>
          <a:xfrm>
            <a:off x="548640" y="1783080"/>
            <a:ext cx="6949440" cy="603504"/>
          </a:xfrm>
          <a:prstGeom prst="rect">
            <a:avLst/>
          </a:prstGeom>
          <a:solidFill>
            <a:schemeClr val="bg2"/>
          </a:solidFill>
          <a:ln/>
        </p:spPr>
      </p:sp>
      <p:sp>
        <p:nvSpPr>
          <p:cNvPr id="5" name="Text 3"/>
          <p:cNvSpPr txBox="1"/>
          <p:nvPr/>
        </p:nvSpPr>
        <p:spPr>
          <a:xfrm>
            <a:off x="777240" y="1783080"/>
            <a:ext cx="1463040" cy="603504"/>
          </a:xfrm>
          <a:prstGeom prst="rect">
            <a:avLst/>
          </a:prstGeom>
          <a:noFill/>
          <a:ln/>
        </p:spPr>
        <p:txBody>
          <a:bodyPr wrap="square" lIns="0" tIns="0" rIns="0" bIns="0" rtlCol="0" anchor="ctr"/>
          <a:lstStyle/>
          <a:p>
            <a:pPr indent="0" marL="0">
              <a:buNone/>
            </a:pPr>
            <a:r>
              <a:rPr lang="en-US" sz="1600" b="1" dirty="0">
                <a:solidFill>
                  <a:schemeClr val="accent1"/>
                </a:solidFill>
              </a:rPr>
              <a:t>Interface</a:t>
            </a:r>
            <a:endParaRPr lang="en-US" sz="1600" dirty="0"/>
          </a:p>
        </p:txBody>
      </p:sp>
      <p:sp>
        <p:nvSpPr>
          <p:cNvPr id="6" name="Text 4"/>
          <p:cNvSpPr txBox="1"/>
          <p:nvPr/>
        </p:nvSpPr>
        <p:spPr>
          <a:xfrm>
            <a:off x="2286000" y="1783080"/>
            <a:ext cx="5074920" cy="603504"/>
          </a:xfrm>
          <a:prstGeom prst="rect">
            <a:avLst/>
          </a:prstGeom>
          <a:noFill/>
          <a:ln/>
        </p:spPr>
        <p:txBody>
          <a:bodyPr wrap="square" lIns="0" tIns="0" rIns="0" bIns="0" rtlCol="0" anchor="ctr"/>
          <a:lstStyle/>
          <a:p>
            <a:pPr indent="0" marL="0">
              <a:buNone/>
            </a:pPr>
            <a:r>
              <a:rPr lang="en-US" sz="1400" dirty="0">
                <a:solidFill>
                  <a:schemeClr val="tx1"/>
                </a:solidFill>
              </a:rPr>
              <a:t>Vapi phone, ElevenLabs voice, web chat, dashboard</a:t>
            </a:r>
            <a:endParaRPr lang="en-US" sz="1400" dirty="0"/>
          </a:p>
        </p:txBody>
      </p:sp>
      <p:sp>
        <p:nvSpPr>
          <p:cNvPr id="7" name="layer Agent"/>
          <p:cNvSpPr/>
          <p:nvPr/>
        </p:nvSpPr>
        <p:spPr>
          <a:xfrm>
            <a:off x="548640" y="2496312"/>
            <a:ext cx="6949440" cy="603504"/>
          </a:xfrm>
          <a:prstGeom prst="rect">
            <a:avLst/>
          </a:prstGeom>
          <a:solidFill>
            <a:schemeClr val="bg2"/>
          </a:solidFill>
          <a:ln/>
        </p:spPr>
      </p:sp>
      <p:sp>
        <p:nvSpPr>
          <p:cNvPr id="8" name="Text 6"/>
          <p:cNvSpPr txBox="1"/>
          <p:nvPr/>
        </p:nvSpPr>
        <p:spPr>
          <a:xfrm>
            <a:off x="777240" y="2496312"/>
            <a:ext cx="1463040" cy="603504"/>
          </a:xfrm>
          <a:prstGeom prst="rect">
            <a:avLst/>
          </a:prstGeom>
          <a:noFill/>
          <a:ln/>
        </p:spPr>
        <p:txBody>
          <a:bodyPr wrap="square" lIns="0" tIns="0" rIns="0" bIns="0" rtlCol="0" anchor="ctr"/>
          <a:lstStyle/>
          <a:p>
            <a:pPr indent="0" marL="0">
              <a:buNone/>
            </a:pPr>
            <a:r>
              <a:rPr lang="en-US" sz="1600" b="1" dirty="0">
                <a:solidFill>
                  <a:schemeClr val="accent1"/>
                </a:solidFill>
              </a:rPr>
              <a:t>Agent</a:t>
            </a:r>
            <a:endParaRPr lang="en-US" sz="1600" dirty="0"/>
          </a:p>
        </p:txBody>
      </p:sp>
      <p:sp>
        <p:nvSpPr>
          <p:cNvPr id="9" name="Text 7"/>
          <p:cNvSpPr txBox="1"/>
          <p:nvPr/>
        </p:nvSpPr>
        <p:spPr>
          <a:xfrm>
            <a:off x="2286000" y="2496312"/>
            <a:ext cx="5074920" cy="603504"/>
          </a:xfrm>
          <a:prstGeom prst="rect">
            <a:avLst/>
          </a:prstGeom>
          <a:noFill/>
          <a:ln/>
        </p:spPr>
        <p:txBody>
          <a:bodyPr wrap="square" lIns="0" tIns="0" rIns="0" bIns="0" rtlCol="0" anchor="ctr"/>
          <a:lstStyle/>
          <a:p>
            <a:pPr indent="0" marL="0">
              <a:buNone/>
            </a:pPr>
            <a:r>
              <a:rPr lang="en-US" sz="1400" dirty="0">
                <a:solidFill>
                  <a:schemeClr val="tx1"/>
                </a:solidFill>
              </a:rPr>
              <a:t>Python WebSocket gateway on Pydantic AI, with sessions, memory and tools</a:t>
            </a:r>
            <a:endParaRPr lang="en-US" sz="1400" dirty="0"/>
          </a:p>
        </p:txBody>
      </p:sp>
      <p:sp>
        <p:nvSpPr>
          <p:cNvPr id="10" name="layer Policy"/>
          <p:cNvSpPr/>
          <p:nvPr/>
        </p:nvSpPr>
        <p:spPr>
          <a:xfrm>
            <a:off x="548640" y="3209544"/>
            <a:ext cx="6949440" cy="603504"/>
          </a:xfrm>
          <a:prstGeom prst="rect">
            <a:avLst/>
          </a:prstGeom>
          <a:solidFill>
            <a:schemeClr val="accent1"/>
          </a:solidFill>
          <a:ln/>
        </p:spPr>
      </p:sp>
      <p:sp>
        <p:nvSpPr>
          <p:cNvPr id="11" name="Text 9"/>
          <p:cNvSpPr txBox="1"/>
          <p:nvPr/>
        </p:nvSpPr>
        <p:spPr>
          <a:xfrm>
            <a:off x="777240" y="3209544"/>
            <a:ext cx="1463040" cy="603504"/>
          </a:xfrm>
          <a:prstGeom prst="rect">
            <a:avLst/>
          </a:prstGeom>
          <a:noFill/>
          <a:ln/>
        </p:spPr>
        <p:txBody>
          <a:bodyPr wrap="square" lIns="0" tIns="0" rIns="0" bIns="0" rtlCol="0" anchor="ctr"/>
          <a:lstStyle/>
          <a:p>
            <a:pPr indent="0" marL="0">
              <a:buNone/>
            </a:pPr>
            <a:r>
              <a:rPr lang="en-US" sz="1600" b="1" dirty="0">
                <a:solidFill>
                  <a:schemeClr val="bg1"/>
                </a:solidFill>
              </a:rPr>
              <a:t>Policy</a:t>
            </a:r>
            <a:endParaRPr lang="en-US" sz="1600" dirty="0"/>
          </a:p>
        </p:txBody>
      </p:sp>
      <p:sp>
        <p:nvSpPr>
          <p:cNvPr id="12" name="Text 10"/>
          <p:cNvSpPr txBox="1"/>
          <p:nvPr/>
        </p:nvSpPr>
        <p:spPr>
          <a:xfrm>
            <a:off x="2286000" y="3209544"/>
            <a:ext cx="5074920" cy="603504"/>
          </a:xfrm>
          <a:prstGeom prst="rect">
            <a:avLst/>
          </a:prstGeom>
          <a:noFill/>
          <a:ln/>
        </p:spPr>
        <p:txBody>
          <a:bodyPr wrap="square" lIns="0" tIns="0" rIns="0" bIns="0" rtlCol="0" anchor="ctr"/>
          <a:lstStyle/>
          <a:p>
            <a:pPr indent="0" marL="0">
              <a:buNone/>
            </a:pPr>
            <a:r>
              <a:rPr lang="en-US" sz="1400" dirty="0">
                <a:solidFill>
                  <a:schemeClr val="bg1"/>
                </a:solidFill>
              </a:rPr>
              <a:t>Permission tiers, caps, allowlists, scam checks. Enforced server-side</a:t>
            </a:r>
            <a:endParaRPr lang="en-US" sz="1400" dirty="0"/>
          </a:p>
        </p:txBody>
      </p:sp>
      <p:sp>
        <p:nvSpPr>
          <p:cNvPr id="13" name="layer Tools"/>
          <p:cNvSpPr/>
          <p:nvPr/>
        </p:nvSpPr>
        <p:spPr>
          <a:xfrm>
            <a:off x="548640" y="3922776"/>
            <a:ext cx="6949440" cy="603504"/>
          </a:xfrm>
          <a:prstGeom prst="rect">
            <a:avLst/>
          </a:prstGeom>
          <a:solidFill>
            <a:schemeClr val="bg2"/>
          </a:solidFill>
          <a:ln/>
        </p:spPr>
      </p:sp>
      <p:sp>
        <p:nvSpPr>
          <p:cNvPr id="14" name="Text 12"/>
          <p:cNvSpPr txBox="1"/>
          <p:nvPr/>
        </p:nvSpPr>
        <p:spPr>
          <a:xfrm>
            <a:off x="777240" y="3922776"/>
            <a:ext cx="1463040" cy="603504"/>
          </a:xfrm>
          <a:prstGeom prst="rect">
            <a:avLst/>
          </a:prstGeom>
          <a:noFill/>
          <a:ln/>
        </p:spPr>
        <p:txBody>
          <a:bodyPr wrap="square" lIns="0" tIns="0" rIns="0" bIns="0" rtlCol="0" anchor="ctr"/>
          <a:lstStyle/>
          <a:p>
            <a:pPr indent="0" marL="0">
              <a:buNone/>
            </a:pPr>
            <a:r>
              <a:rPr lang="en-US" sz="1600" b="1" dirty="0">
                <a:solidFill>
                  <a:schemeClr val="accent1"/>
                </a:solidFill>
              </a:rPr>
              <a:t>Tools</a:t>
            </a:r>
            <a:endParaRPr lang="en-US" sz="1600" dirty="0"/>
          </a:p>
        </p:txBody>
      </p:sp>
      <p:sp>
        <p:nvSpPr>
          <p:cNvPr id="15" name="Text 13"/>
          <p:cNvSpPr txBox="1"/>
          <p:nvPr/>
        </p:nvSpPr>
        <p:spPr>
          <a:xfrm>
            <a:off x="2286000" y="3922776"/>
            <a:ext cx="5074920" cy="603504"/>
          </a:xfrm>
          <a:prstGeom prst="rect">
            <a:avLst/>
          </a:prstGeom>
          <a:noFill/>
          <a:ln/>
        </p:spPr>
        <p:txBody>
          <a:bodyPr wrap="square" lIns="0" tIns="0" rIns="0" bIns="0" rtlCol="0" anchor="ctr"/>
          <a:lstStyle/>
          <a:p>
            <a:pPr indent="0" marL="0">
              <a:buNone/>
            </a:pPr>
            <a:r>
              <a:rPr lang="en-US" sz="1400" dirty="0">
                <a:solidFill>
                  <a:schemeClr val="tx1"/>
                </a:solidFill>
              </a:rPr>
              <a:t>Narrow, single-purpose, with scoped credentials the agent never holds</a:t>
            </a:r>
            <a:endParaRPr lang="en-US" sz="1400" dirty="0"/>
          </a:p>
        </p:txBody>
      </p:sp>
      <p:sp>
        <p:nvSpPr>
          <p:cNvPr id="16" name="layer Memory"/>
          <p:cNvSpPr/>
          <p:nvPr/>
        </p:nvSpPr>
        <p:spPr>
          <a:xfrm>
            <a:off x="548640" y="4636008"/>
            <a:ext cx="6949440" cy="603504"/>
          </a:xfrm>
          <a:prstGeom prst="rect">
            <a:avLst/>
          </a:prstGeom>
          <a:solidFill>
            <a:schemeClr val="bg2"/>
          </a:solidFill>
          <a:ln/>
        </p:spPr>
      </p:sp>
      <p:sp>
        <p:nvSpPr>
          <p:cNvPr id="17" name="Text 15"/>
          <p:cNvSpPr txBox="1"/>
          <p:nvPr/>
        </p:nvSpPr>
        <p:spPr>
          <a:xfrm>
            <a:off x="777240" y="4636008"/>
            <a:ext cx="1463040" cy="603504"/>
          </a:xfrm>
          <a:prstGeom prst="rect">
            <a:avLst/>
          </a:prstGeom>
          <a:noFill/>
          <a:ln/>
        </p:spPr>
        <p:txBody>
          <a:bodyPr wrap="square" lIns="0" tIns="0" rIns="0" bIns="0" rtlCol="0" anchor="ctr"/>
          <a:lstStyle/>
          <a:p>
            <a:pPr indent="0" marL="0">
              <a:buNone/>
            </a:pPr>
            <a:r>
              <a:rPr lang="en-US" sz="1600" b="1" dirty="0">
                <a:solidFill>
                  <a:schemeClr val="accent1"/>
                </a:solidFill>
              </a:rPr>
              <a:t>Memory</a:t>
            </a:r>
            <a:endParaRPr lang="en-US" sz="1600" dirty="0"/>
          </a:p>
        </p:txBody>
      </p:sp>
      <p:sp>
        <p:nvSpPr>
          <p:cNvPr id="18" name="Text 16"/>
          <p:cNvSpPr txBox="1"/>
          <p:nvPr/>
        </p:nvSpPr>
        <p:spPr>
          <a:xfrm>
            <a:off x="2286000" y="4636008"/>
            <a:ext cx="5074920" cy="603504"/>
          </a:xfrm>
          <a:prstGeom prst="rect">
            <a:avLst/>
          </a:prstGeom>
          <a:noFill/>
          <a:ln/>
        </p:spPr>
        <p:txBody>
          <a:bodyPr wrap="square" lIns="0" tIns="0" rIns="0" bIns="0" rtlCol="0" anchor="ctr"/>
          <a:lstStyle/>
          <a:p>
            <a:pPr indent="0" marL="0">
              <a:buNone/>
            </a:pPr>
            <a:r>
              <a:rPr lang="en-US" sz="1400" dirty="0">
                <a:solidFill>
                  <a:schemeClr val="tx1"/>
                </a:solidFill>
              </a:rPr>
              <a:t>Routines, medications, people, preferences. Owned and editable by the person</a:t>
            </a:r>
            <a:endParaRPr lang="en-US" sz="1400" dirty="0"/>
          </a:p>
        </p:txBody>
      </p:sp>
      <p:sp>
        <p:nvSpPr>
          <p:cNvPr id="19" name="layer Oversight"/>
          <p:cNvSpPr/>
          <p:nvPr/>
        </p:nvSpPr>
        <p:spPr>
          <a:xfrm>
            <a:off x="548640" y="5349240"/>
            <a:ext cx="6949440" cy="603504"/>
          </a:xfrm>
          <a:prstGeom prst="rect">
            <a:avLst/>
          </a:prstGeom>
          <a:solidFill>
            <a:schemeClr val="bg2"/>
          </a:solidFill>
          <a:ln/>
        </p:spPr>
      </p:sp>
      <p:sp>
        <p:nvSpPr>
          <p:cNvPr id="20" name="Text 18"/>
          <p:cNvSpPr txBox="1"/>
          <p:nvPr/>
        </p:nvSpPr>
        <p:spPr>
          <a:xfrm>
            <a:off x="777240" y="5349240"/>
            <a:ext cx="1463040" cy="603504"/>
          </a:xfrm>
          <a:prstGeom prst="rect">
            <a:avLst/>
          </a:prstGeom>
          <a:noFill/>
          <a:ln/>
        </p:spPr>
        <p:txBody>
          <a:bodyPr wrap="square" lIns="0" tIns="0" rIns="0" bIns="0" rtlCol="0" anchor="ctr"/>
          <a:lstStyle/>
          <a:p>
            <a:pPr indent="0" marL="0">
              <a:buNone/>
            </a:pPr>
            <a:r>
              <a:rPr lang="en-US" sz="1600" b="1" dirty="0">
                <a:solidFill>
                  <a:schemeClr val="accent1"/>
                </a:solidFill>
              </a:rPr>
              <a:t>Oversight</a:t>
            </a:r>
            <a:endParaRPr lang="en-US" sz="1600" dirty="0"/>
          </a:p>
        </p:txBody>
      </p:sp>
      <p:sp>
        <p:nvSpPr>
          <p:cNvPr id="21" name="Text 19"/>
          <p:cNvSpPr txBox="1"/>
          <p:nvPr/>
        </p:nvSpPr>
        <p:spPr>
          <a:xfrm>
            <a:off x="2286000" y="5349240"/>
            <a:ext cx="5074920" cy="603504"/>
          </a:xfrm>
          <a:prstGeom prst="rect">
            <a:avLst/>
          </a:prstGeom>
          <a:noFill/>
          <a:ln/>
        </p:spPr>
        <p:txBody>
          <a:bodyPr wrap="square" lIns="0" tIns="0" rIns="0" bIns="0" rtlCol="0" anchor="ctr"/>
          <a:lstStyle/>
          <a:p>
            <a:pPr indent="0" marL="0">
              <a:buNone/>
            </a:pPr>
            <a:r>
              <a:rPr lang="en-US" sz="1400" dirty="0">
                <a:solidFill>
                  <a:schemeClr val="tx1"/>
                </a:solidFill>
              </a:rPr>
              <a:t>Audit log and rate-limited trusted-contact notifications</a:t>
            </a:r>
            <a:endParaRPr lang="en-US" sz="1400" dirty="0"/>
          </a:p>
        </p:txBody>
      </p:sp>
      <p:sp>
        <p:nvSpPr>
          <p:cNvPr id="22" name="Text 20"/>
          <p:cNvSpPr txBox="1"/>
          <p:nvPr/>
        </p:nvSpPr>
        <p:spPr>
          <a:xfrm>
            <a:off x="8001000" y="1783080"/>
            <a:ext cx="365760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THE STACK</a:t>
            </a:r>
            <a:endParaRPr lang="en-US" sz="1200" dirty="0"/>
          </a:p>
        </p:txBody>
      </p:sp>
      <p:sp>
        <p:nvSpPr>
          <p:cNvPr id="23" name="Text 21"/>
          <p:cNvSpPr txBox="1"/>
          <p:nvPr/>
        </p:nvSpPr>
        <p:spPr>
          <a:xfrm>
            <a:off x="8001000" y="219456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Python gateway (src/claw): Pydantic AI, FastAPI WebSockets, OpenClaw-style req/res/event frames</a:t>
            </a:r>
            <a:endParaRPr lang="en-US" sz="1400" dirty="0"/>
          </a:p>
          <a:p>
            <a:pPr marL="342900" indent="-342900">
              <a:spcAft>
                <a:spcPts val="800"/>
              </a:spcAft>
              <a:buSzPct val="100000"/>
              <a:buChar char="•"/>
            </a:pPr>
            <a:r>
              <a:rPr lang="en-US" sz="1400" dirty="0">
                <a:solidFill>
                  <a:schemeClr val="tx1"/>
                </a:solidFill>
              </a:rPr>
              <a:t>Node/TypeScript ElevenLabs agent with server-side tool webhooks</a:t>
            </a:r>
            <a:endParaRPr lang="en-US" sz="1400" dirty="0"/>
          </a:p>
          <a:p>
            <a:pPr marL="342900" indent="-342900">
              <a:spcAft>
                <a:spcPts val="800"/>
              </a:spcAft>
              <a:buSzPct val="100000"/>
              <a:buChar char="•"/>
            </a:pPr>
            <a:r>
              <a:rPr lang="en-US" sz="1400" dirty="0">
                <a:solidFill>
                  <a:schemeClr val="tx1"/>
                </a:solidFill>
              </a:rPr>
              <a:t>SpacetimeDB for atomic job claims across gateways</a:t>
            </a:r>
            <a:endParaRPr lang="en-US" sz="1400" dirty="0"/>
          </a:p>
          <a:p>
            <a:pPr marL="342900" indent="-342900">
              <a:spcAft>
                <a:spcPts val="800"/>
              </a:spcAft>
              <a:buSzPct val="100000"/>
              <a:buChar char="•"/>
            </a:pPr>
            <a:r>
              <a:rPr lang="en-US" sz="1400" dirty="0">
                <a:solidFill>
                  <a:schemeClr val="tx1"/>
                </a:solidFill>
              </a:rPr>
              <a:t>Host computer-use tool for screenshots, mouse and keyboard</a:t>
            </a:r>
            <a:endParaRPr lang="en-US" sz="1400" dirty="0"/>
          </a:p>
        </p:txBody>
      </p:sp>
      <p:sp>
        <p:nvSpPr>
          <p:cNvPr id="24" name="tests note"/>
          <p:cNvSpPr/>
          <p:nvPr/>
        </p:nvSpPr>
        <p:spPr>
          <a:xfrm>
            <a:off x="8001000" y="5029200"/>
            <a:ext cx="3611880" cy="1005840"/>
          </a:xfrm>
          <a:prstGeom prst="rect">
            <a:avLst/>
          </a:prstGeom>
          <a:solidFill>
            <a:schemeClr val="bg2"/>
          </a:solidFill>
          <a:ln/>
        </p:spPr>
      </p:sp>
      <p:sp>
        <p:nvSpPr>
          <p:cNvPr id="25" name="Text 23"/>
          <p:cNvSpPr txBox="1"/>
          <p:nvPr/>
        </p:nvSpPr>
        <p:spPr>
          <a:xfrm>
            <a:off x="8229600" y="5029200"/>
            <a:ext cx="329184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118</a:t>
            </a:r>
            <a:pPr indent="0" marL="0">
              <a:buNone/>
            </a:pPr>
            <a:r>
              <a:rPr lang="en-US" sz="1400" dirty="0">
                <a:solidFill>
                  <a:schemeClr val="tx1"/>
                </a:solidFill>
              </a:rPr>
              <a:t>  automated tests across 16 suites</a:t>
            </a:r>
            <a:endParaRPr lang="en-US" sz="28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4"/>
                </a:solidFill>
              </a:rPr>
              <a:t>OUR BIGGEST CHALLENGE</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bg1"/>
                </a:solidFill>
              </a:rPr>
              <a:t>We built the harness from scratch</a:t>
            </a:r>
            <a:endParaRPr lang="en-US" sz="3600" dirty="0"/>
          </a:p>
        </p:txBody>
      </p:sp>
      <p:sp>
        <p:nvSpPr>
          <p:cNvPr id="4" name="Text 2"/>
          <p:cNvSpPr txBox="1"/>
          <p:nvPr/>
        </p:nvSpPr>
        <p:spPr>
          <a:xfrm>
            <a:off x="548640" y="1691640"/>
            <a:ext cx="11064240" cy="731520"/>
          </a:xfrm>
          <a:prstGeom prst="rect">
            <a:avLst/>
          </a:prstGeom>
          <a:noFill/>
          <a:ln/>
        </p:spPr>
        <p:txBody>
          <a:bodyPr wrap="square" lIns="0" tIns="0" rIns="0" bIns="0" rtlCol="0" anchor="t"/>
          <a:lstStyle/>
          <a:p>
            <a:pPr indent="0" marL="0">
              <a:buNone/>
            </a:pPr>
            <a:r>
              <a:rPr lang="en-US" sz="1600" dirty="0">
                <a:solidFill>
                  <a:schemeClr val="bg2"/>
                </a:solidFill>
              </a:rPr>
              <a:t>No fork of OpenClaw. Pydantic AI runs the agent loop (typed deps, tools, streaming events) with Harness capabilities for the workspace and computer use. The control plane we re-derived by hand.</a:t>
            </a:r>
            <a:endParaRPr lang="en-US" sz="1600" dirty="0"/>
          </a:p>
        </p:txBody>
      </p:sp>
      <p:sp>
        <p:nvSpPr>
          <p:cNvPr id="5" name="Text 3"/>
          <p:cNvSpPr txBox="1"/>
          <p:nvPr/>
        </p:nvSpPr>
        <p:spPr>
          <a:xfrm>
            <a:off x="548640" y="2606040"/>
            <a:ext cx="5486400" cy="320040"/>
          </a:xfrm>
          <a:prstGeom prst="rect">
            <a:avLst/>
          </a:prstGeom>
          <a:noFill/>
          <a:ln/>
        </p:spPr>
        <p:txBody>
          <a:bodyPr wrap="square" lIns="0" tIns="0" rIns="0" bIns="0" rtlCol="0" anchor="t"/>
          <a:lstStyle/>
          <a:p>
            <a:pPr indent="0" marL="0">
              <a:buNone/>
            </a:pPr>
            <a:r>
              <a:rPr lang="en-US" sz="1200" b="1" spc="300" kern="0" dirty="0">
                <a:solidFill>
                  <a:schemeClr val="accent4"/>
                </a:solidFill>
              </a:rPr>
              <a:t>THE PROTOCOL</a:t>
            </a:r>
            <a:endParaRPr lang="en-US" sz="1200" dirty="0"/>
          </a:p>
        </p:txBody>
      </p:sp>
      <p:sp>
        <p:nvSpPr>
          <p:cNvPr id="6" name="protocol 1"/>
          <p:cNvSpPr/>
          <p:nvPr/>
        </p:nvSpPr>
        <p:spPr>
          <a:xfrm>
            <a:off x="548640" y="3017520"/>
            <a:ext cx="2514600" cy="1325880"/>
          </a:xfrm>
          <a:prstGeom prst="rect">
            <a:avLst/>
          </a:prstGeom>
          <a:solidFill>
            <a:schemeClr val="tx1"/>
          </a:solidFill>
          <a:ln/>
        </p:spPr>
      </p:sp>
      <p:sp>
        <p:nvSpPr>
          <p:cNvPr id="7" name="Text 5"/>
          <p:cNvSpPr txBox="1"/>
          <p:nvPr/>
        </p:nvSpPr>
        <p:spPr>
          <a:xfrm>
            <a:off x="777240" y="3154680"/>
            <a:ext cx="210312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connect</a:t>
            </a:r>
            <a:endParaRPr lang="en-US" sz="1800" dirty="0"/>
          </a:p>
        </p:txBody>
      </p:sp>
      <p:sp>
        <p:nvSpPr>
          <p:cNvPr id="8" name="Text 6"/>
          <p:cNvSpPr txBox="1"/>
          <p:nvPr/>
        </p:nvSpPr>
        <p:spPr>
          <a:xfrm>
            <a:off x="777240" y="3611880"/>
            <a:ext cx="2103120" cy="640080"/>
          </a:xfrm>
          <a:prstGeom prst="rect">
            <a:avLst/>
          </a:prstGeom>
          <a:noFill/>
          <a:ln/>
        </p:spPr>
        <p:txBody>
          <a:bodyPr wrap="square" lIns="0" tIns="0" rIns="0" bIns="0" rtlCol="0" anchor="t"/>
          <a:lstStyle/>
          <a:p>
            <a:pPr indent="0" marL="0">
              <a:buNone/>
            </a:pPr>
            <a:r>
              <a:rPr lang="en-US" sz="1300" dirty="0">
                <a:solidFill>
                  <a:schemeClr val="bg2"/>
                </a:solidFill>
              </a:rPr>
              <a:t>Handshake opens the WebSocket session</a:t>
            </a:r>
            <a:endParaRPr lang="en-US" sz="1300" dirty="0"/>
          </a:p>
        </p:txBody>
      </p:sp>
      <p:pic>
        <p:nvPicPr>
          <p:cNvPr id="9" name="Image 0" descr="then">    </p:cNvPr>
          <p:cNvPicPr>
            <a:picLocks noChangeAspect="1"/>
          </p:cNvPicPr>
          <p:nvPr/>
        </p:nvPicPr>
        <p:blipFill>
          <a:blip r:embed="rId1"/>
          <a:stretch>
            <a:fillRect/>
          </a:stretch>
        </p:blipFill>
        <p:spPr>
          <a:xfrm>
            <a:off x="3108960" y="3584448"/>
            <a:ext cx="201168" cy="201168"/>
          </a:xfrm>
          <a:prstGeom prst="rect">
            <a:avLst/>
          </a:prstGeom>
        </p:spPr>
      </p:pic>
      <p:sp>
        <p:nvSpPr>
          <p:cNvPr id="10" name="protocol 2"/>
          <p:cNvSpPr/>
          <p:nvPr/>
        </p:nvSpPr>
        <p:spPr>
          <a:xfrm>
            <a:off x="3364992" y="3017520"/>
            <a:ext cx="2514600" cy="1325880"/>
          </a:xfrm>
          <a:prstGeom prst="rect">
            <a:avLst/>
          </a:prstGeom>
          <a:solidFill>
            <a:schemeClr val="tx1"/>
          </a:solidFill>
          <a:ln/>
        </p:spPr>
      </p:sp>
      <p:sp>
        <p:nvSpPr>
          <p:cNvPr id="11" name="Text 8"/>
          <p:cNvSpPr txBox="1"/>
          <p:nvPr/>
        </p:nvSpPr>
        <p:spPr>
          <a:xfrm>
            <a:off x="3593592" y="3154680"/>
            <a:ext cx="210312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req/res/event</a:t>
            </a:r>
            <a:endParaRPr lang="en-US" sz="1800" dirty="0"/>
          </a:p>
        </p:txBody>
      </p:sp>
      <p:sp>
        <p:nvSpPr>
          <p:cNvPr id="12" name="Text 9"/>
          <p:cNvSpPr txBox="1"/>
          <p:nvPr/>
        </p:nvSpPr>
        <p:spPr>
          <a:xfrm>
            <a:off x="3593592" y="3611880"/>
            <a:ext cx="2103120" cy="640080"/>
          </a:xfrm>
          <a:prstGeom prst="rect">
            <a:avLst/>
          </a:prstGeom>
          <a:noFill/>
          <a:ln/>
        </p:spPr>
        <p:txBody>
          <a:bodyPr wrap="square" lIns="0" tIns="0" rIns="0" bIns="0" rtlCol="0" anchor="t"/>
          <a:lstStyle/>
          <a:p>
            <a:pPr indent="0" marL="0">
              <a:buNone/>
            </a:pPr>
            <a:r>
              <a:rPr lang="en-US" sz="1300" dirty="0">
                <a:solidFill>
                  <a:schemeClr val="bg2"/>
                </a:solidFill>
              </a:rPr>
              <a:t>Every message is one of three frame types</a:t>
            </a:r>
            <a:endParaRPr lang="en-US" sz="1300" dirty="0"/>
          </a:p>
        </p:txBody>
      </p:sp>
      <p:pic>
        <p:nvPicPr>
          <p:cNvPr id="13" name="Image 1" descr="then">    </p:cNvPr>
          <p:cNvPicPr>
            <a:picLocks noChangeAspect="1"/>
          </p:cNvPicPr>
          <p:nvPr/>
        </p:nvPicPr>
        <p:blipFill>
          <a:blip r:embed="rId2"/>
          <a:stretch>
            <a:fillRect/>
          </a:stretch>
        </p:blipFill>
        <p:spPr>
          <a:xfrm>
            <a:off x="5925312" y="3584448"/>
            <a:ext cx="201168" cy="201168"/>
          </a:xfrm>
          <a:prstGeom prst="rect">
            <a:avLst/>
          </a:prstGeom>
        </p:spPr>
      </p:pic>
      <p:sp>
        <p:nvSpPr>
          <p:cNvPr id="14" name="protocol 3"/>
          <p:cNvSpPr/>
          <p:nvPr/>
        </p:nvSpPr>
        <p:spPr>
          <a:xfrm>
            <a:off x="6181344" y="3017520"/>
            <a:ext cx="2514600" cy="1325880"/>
          </a:xfrm>
          <a:prstGeom prst="rect">
            <a:avLst/>
          </a:prstGeom>
          <a:solidFill>
            <a:schemeClr val="tx1"/>
          </a:solidFill>
          <a:ln/>
        </p:spPr>
      </p:sp>
      <p:sp>
        <p:nvSpPr>
          <p:cNvPr id="15" name="Text 11"/>
          <p:cNvSpPr txBox="1"/>
          <p:nvPr/>
        </p:nvSpPr>
        <p:spPr>
          <a:xfrm>
            <a:off x="6409944" y="3154680"/>
            <a:ext cx="210312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agent → runId</a:t>
            </a:r>
            <a:endParaRPr lang="en-US" sz="1800" dirty="0"/>
          </a:p>
        </p:txBody>
      </p:sp>
      <p:sp>
        <p:nvSpPr>
          <p:cNvPr id="16" name="Text 12"/>
          <p:cNvSpPr txBox="1"/>
          <p:nvPr/>
        </p:nvSpPr>
        <p:spPr>
          <a:xfrm>
            <a:off x="6409944" y="3611880"/>
            <a:ext cx="2103120" cy="640080"/>
          </a:xfrm>
          <a:prstGeom prst="rect">
            <a:avLst/>
          </a:prstGeom>
          <a:noFill/>
          <a:ln/>
        </p:spPr>
        <p:txBody>
          <a:bodyPr wrap="square" lIns="0" tIns="0" rIns="0" bIns="0" rtlCol="0" anchor="t"/>
          <a:lstStyle/>
          <a:p>
            <a:pPr indent="0" marL="0">
              <a:buNone/>
            </a:pPr>
            <a:r>
              <a:rPr lang="en-US" sz="1300" dirty="0">
                <a:solidFill>
                  <a:schemeClr val="bg2"/>
                </a:solidFill>
              </a:rPr>
              <a:t>A turn is accepted at once and gets an id</a:t>
            </a:r>
            <a:endParaRPr lang="en-US" sz="1300" dirty="0"/>
          </a:p>
        </p:txBody>
      </p:sp>
      <p:pic>
        <p:nvPicPr>
          <p:cNvPr id="17" name="Image 2" descr="then">    </p:cNvPr>
          <p:cNvPicPr>
            <a:picLocks noChangeAspect="1"/>
          </p:cNvPicPr>
          <p:nvPr/>
        </p:nvPicPr>
        <p:blipFill>
          <a:blip r:embed="rId3"/>
          <a:stretch>
            <a:fillRect/>
          </a:stretch>
        </p:blipFill>
        <p:spPr>
          <a:xfrm>
            <a:off x="8741664" y="3584448"/>
            <a:ext cx="201168" cy="201168"/>
          </a:xfrm>
          <a:prstGeom prst="rect">
            <a:avLst/>
          </a:prstGeom>
        </p:spPr>
      </p:pic>
      <p:sp>
        <p:nvSpPr>
          <p:cNvPr id="18" name="protocol 4"/>
          <p:cNvSpPr/>
          <p:nvPr/>
        </p:nvSpPr>
        <p:spPr>
          <a:xfrm>
            <a:off x="8997696" y="3017520"/>
            <a:ext cx="2514600" cy="1325880"/>
          </a:xfrm>
          <a:prstGeom prst="rect">
            <a:avLst/>
          </a:prstGeom>
          <a:solidFill>
            <a:schemeClr val="tx1"/>
          </a:solidFill>
          <a:ln/>
        </p:spPr>
      </p:sp>
      <p:sp>
        <p:nvSpPr>
          <p:cNvPr id="19" name="Text 14"/>
          <p:cNvSpPr txBox="1"/>
          <p:nvPr/>
        </p:nvSpPr>
        <p:spPr>
          <a:xfrm>
            <a:off x="9226296" y="3154680"/>
            <a:ext cx="210312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agent.wait</a:t>
            </a:r>
            <a:endParaRPr lang="en-US" sz="1800" dirty="0"/>
          </a:p>
        </p:txBody>
      </p:sp>
      <p:sp>
        <p:nvSpPr>
          <p:cNvPr id="20" name="Text 15"/>
          <p:cNvSpPr txBox="1"/>
          <p:nvPr/>
        </p:nvSpPr>
        <p:spPr>
          <a:xfrm>
            <a:off x="9226296" y="3611880"/>
            <a:ext cx="2103120" cy="640080"/>
          </a:xfrm>
          <a:prstGeom prst="rect">
            <a:avLst/>
          </a:prstGeom>
          <a:noFill/>
          <a:ln/>
        </p:spPr>
        <p:txBody>
          <a:bodyPr wrap="square" lIns="0" tIns="0" rIns="0" bIns="0" rtlCol="0" anchor="t"/>
          <a:lstStyle/>
          <a:p>
            <a:pPr indent="0" marL="0">
              <a:buNone/>
            </a:pPr>
            <a:r>
              <a:rPr lang="en-US" sz="1300" dirty="0">
                <a:solidFill>
                  <a:schemeClr val="bg2"/>
                </a:solidFill>
              </a:rPr>
              <a:t>Callers block until that run finishes</a:t>
            </a:r>
            <a:endParaRPr lang="en-US" sz="1300" dirty="0"/>
          </a:p>
        </p:txBody>
      </p:sp>
      <p:sp>
        <p:nvSpPr>
          <p:cNvPr id="21" name="Text 16"/>
          <p:cNvSpPr txBox="1"/>
          <p:nvPr/>
        </p:nvSpPr>
        <p:spPr>
          <a:xfrm>
            <a:off x="548640" y="4572000"/>
            <a:ext cx="5486400" cy="320040"/>
          </a:xfrm>
          <a:prstGeom prst="rect">
            <a:avLst/>
          </a:prstGeom>
          <a:noFill/>
          <a:ln/>
        </p:spPr>
        <p:txBody>
          <a:bodyPr wrap="square" lIns="0" tIns="0" rIns="0" bIns="0" rtlCol="0" anchor="t"/>
          <a:lstStyle/>
          <a:p>
            <a:pPr indent="0" marL="0">
              <a:buNone/>
            </a:pPr>
            <a:r>
              <a:rPr lang="en-US" sz="1200" b="1" spc="300" kern="0" dirty="0">
                <a:solidFill>
                  <a:schemeClr val="accent4"/>
                </a:solidFill>
              </a:rPr>
              <a:t>THE RUNTIME</a:t>
            </a:r>
            <a:endParaRPr lang="en-US" sz="1200" dirty="0"/>
          </a:p>
        </p:txBody>
      </p:sp>
      <p:pic>
        <p:nvPicPr>
          <p:cNvPr id="22" name="Image 3" descr="Session lanes and queue modes icon">    </p:cNvPr>
          <p:cNvPicPr>
            <a:picLocks noChangeAspect="1"/>
          </p:cNvPicPr>
          <p:nvPr/>
        </p:nvPicPr>
        <p:blipFill>
          <a:blip r:embed="rId4"/>
          <a:stretch>
            <a:fillRect/>
          </a:stretch>
        </p:blipFill>
        <p:spPr>
          <a:xfrm>
            <a:off x="548640" y="4983480"/>
            <a:ext cx="365760" cy="365760"/>
          </a:xfrm>
          <a:prstGeom prst="rect">
            <a:avLst/>
          </a:prstGeom>
        </p:spPr>
      </p:pic>
      <p:sp>
        <p:nvSpPr>
          <p:cNvPr id="23" name="Text 17"/>
          <p:cNvSpPr txBox="1"/>
          <p:nvPr/>
        </p:nvSpPr>
        <p:spPr>
          <a:xfrm>
            <a:off x="1097280" y="4937760"/>
            <a:ext cx="3017520" cy="365760"/>
          </a:xfrm>
          <a:prstGeom prst="rect">
            <a:avLst/>
          </a:prstGeom>
          <a:noFill/>
          <a:ln/>
        </p:spPr>
        <p:txBody>
          <a:bodyPr wrap="square" lIns="0" tIns="0" rIns="0" bIns="0" rtlCol="0" anchor="t"/>
          <a:lstStyle/>
          <a:p>
            <a:pPr indent="0" marL="0">
              <a:buNone/>
            </a:pPr>
            <a:r>
              <a:rPr lang="en-US" sz="1500" b="1" dirty="0">
                <a:solidFill>
                  <a:schemeClr val="bg1"/>
                </a:solidFill>
              </a:rPr>
              <a:t>Session lanes and queue modes</a:t>
            </a:r>
            <a:endParaRPr lang="en-US" sz="1500" dirty="0"/>
          </a:p>
        </p:txBody>
      </p:sp>
      <p:sp>
        <p:nvSpPr>
          <p:cNvPr id="24" name="Text 18"/>
          <p:cNvSpPr txBox="1"/>
          <p:nvPr/>
        </p:nvSpPr>
        <p:spPr>
          <a:xfrm>
            <a:off x="1097280" y="5285232"/>
            <a:ext cx="3017520" cy="365760"/>
          </a:xfrm>
          <a:prstGeom prst="rect">
            <a:avLst/>
          </a:prstGeom>
          <a:noFill/>
          <a:ln/>
        </p:spPr>
        <p:txBody>
          <a:bodyPr wrap="square" lIns="0" tIns="0" rIns="0" bIns="0" rtlCol="0" anchor="t"/>
          <a:lstStyle/>
          <a:p>
            <a:pPr indent="0" marL="0">
              <a:buNone/>
            </a:pPr>
            <a:r>
              <a:rPr lang="en-US" sz="1300" dirty="0">
                <a:solidFill>
                  <a:schemeClr val="bg2"/>
                </a:solidFill>
              </a:rPr>
              <a:t>followup, collect, interrupt, steer</a:t>
            </a:r>
            <a:endParaRPr lang="en-US" sz="1300" dirty="0"/>
          </a:p>
        </p:txBody>
      </p:sp>
      <p:pic>
        <p:nvPicPr>
          <p:cNvPr id="25" name="Image 4" descr="MEMORY.md bootstrap icon">    </p:cNvPr>
          <p:cNvPicPr>
            <a:picLocks noChangeAspect="1"/>
          </p:cNvPicPr>
          <p:nvPr/>
        </p:nvPicPr>
        <p:blipFill>
          <a:blip r:embed="rId5"/>
          <a:stretch>
            <a:fillRect/>
          </a:stretch>
        </p:blipFill>
        <p:spPr>
          <a:xfrm>
            <a:off x="4297680" y="4983480"/>
            <a:ext cx="365760" cy="365760"/>
          </a:xfrm>
          <a:prstGeom prst="rect">
            <a:avLst/>
          </a:prstGeom>
        </p:spPr>
      </p:pic>
      <p:sp>
        <p:nvSpPr>
          <p:cNvPr id="26" name="Text 19"/>
          <p:cNvSpPr txBox="1"/>
          <p:nvPr/>
        </p:nvSpPr>
        <p:spPr>
          <a:xfrm>
            <a:off x="4846320" y="4937760"/>
            <a:ext cx="3017520" cy="365760"/>
          </a:xfrm>
          <a:prstGeom prst="rect">
            <a:avLst/>
          </a:prstGeom>
          <a:noFill/>
          <a:ln/>
        </p:spPr>
        <p:txBody>
          <a:bodyPr wrap="square" lIns="0" tIns="0" rIns="0" bIns="0" rtlCol="0" anchor="t"/>
          <a:lstStyle/>
          <a:p>
            <a:pPr indent="0" marL="0">
              <a:buNone/>
            </a:pPr>
            <a:r>
              <a:rPr lang="en-US" sz="1500" b="1" dirty="0">
                <a:solidFill>
                  <a:schemeClr val="bg1"/>
                </a:solidFill>
              </a:rPr>
              <a:t>MEMORY.md bootstrap</a:t>
            </a:r>
            <a:endParaRPr lang="en-US" sz="1500" dirty="0"/>
          </a:p>
        </p:txBody>
      </p:sp>
      <p:sp>
        <p:nvSpPr>
          <p:cNvPr id="27" name="Text 20"/>
          <p:cNvSpPr txBox="1"/>
          <p:nvPr/>
        </p:nvSpPr>
        <p:spPr>
          <a:xfrm>
            <a:off x="4846320" y="5285232"/>
            <a:ext cx="3017520" cy="365760"/>
          </a:xfrm>
          <a:prstGeom prst="rect">
            <a:avLst/>
          </a:prstGeom>
          <a:noFill/>
          <a:ln/>
        </p:spPr>
        <p:txBody>
          <a:bodyPr wrap="square" lIns="0" tIns="0" rIns="0" bIns="0" rtlCol="0" anchor="t"/>
          <a:lstStyle/>
          <a:p>
            <a:pPr indent="0" marL="0">
              <a:buNone/>
            </a:pPr>
            <a:r>
              <a:rPr lang="en-US" sz="1300" dirty="0">
                <a:solidFill>
                  <a:schemeClr val="bg2"/>
                </a:solidFill>
              </a:rPr>
              <a:t>Persona and long-term memory, every turn</a:t>
            </a:r>
            <a:endParaRPr lang="en-US" sz="1300" dirty="0"/>
          </a:p>
        </p:txBody>
      </p:sp>
      <p:pic>
        <p:nvPicPr>
          <p:cNvPr id="28" name="Image 5" descr="Automations that fire icon">    </p:cNvPr>
          <p:cNvPicPr>
            <a:picLocks noChangeAspect="1"/>
          </p:cNvPicPr>
          <p:nvPr/>
        </p:nvPicPr>
        <p:blipFill>
          <a:blip r:embed="rId6"/>
          <a:stretch>
            <a:fillRect/>
          </a:stretch>
        </p:blipFill>
        <p:spPr>
          <a:xfrm>
            <a:off x="8046720" y="4983480"/>
            <a:ext cx="365760" cy="365760"/>
          </a:xfrm>
          <a:prstGeom prst="rect">
            <a:avLst/>
          </a:prstGeom>
        </p:spPr>
      </p:pic>
      <p:sp>
        <p:nvSpPr>
          <p:cNvPr id="29" name="Text 21"/>
          <p:cNvSpPr txBox="1"/>
          <p:nvPr/>
        </p:nvSpPr>
        <p:spPr>
          <a:xfrm>
            <a:off x="8595360" y="4937760"/>
            <a:ext cx="3017520" cy="365760"/>
          </a:xfrm>
          <a:prstGeom prst="rect">
            <a:avLst/>
          </a:prstGeom>
          <a:noFill/>
          <a:ln/>
        </p:spPr>
        <p:txBody>
          <a:bodyPr wrap="square" lIns="0" tIns="0" rIns="0" bIns="0" rtlCol="0" anchor="t"/>
          <a:lstStyle/>
          <a:p>
            <a:pPr indent="0" marL="0">
              <a:buNone/>
            </a:pPr>
            <a:r>
              <a:rPr lang="en-US" sz="1500" b="1" dirty="0">
                <a:solidFill>
                  <a:schemeClr val="bg1"/>
                </a:solidFill>
              </a:rPr>
              <a:t>Automations that fire</a:t>
            </a:r>
            <a:endParaRPr lang="en-US" sz="1500" dirty="0"/>
          </a:p>
        </p:txBody>
      </p:sp>
      <p:sp>
        <p:nvSpPr>
          <p:cNvPr id="30" name="Text 22"/>
          <p:cNvSpPr txBox="1"/>
          <p:nvPr/>
        </p:nvSpPr>
        <p:spPr>
          <a:xfrm>
            <a:off x="8595360" y="5285232"/>
            <a:ext cx="3017520" cy="365760"/>
          </a:xfrm>
          <a:prstGeom prst="rect">
            <a:avLst/>
          </a:prstGeom>
          <a:noFill/>
          <a:ln/>
        </p:spPr>
        <p:txBody>
          <a:bodyPr wrap="square" lIns="0" tIns="0" rIns="0" bIns="0" rtlCol="0" anchor="t"/>
          <a:lstStyle/>
          <a:p>
            <a:pPr indent="0" marL="0">
              <a:buNone/>
            </a:pPr>
            <a:r>
              <a:rPr lang="en-US" sz="1300" dirty="0">
                <a:solidFill>
                  <a:schemeClr val="bg2"/>
                </a:solidFill>
              </a:rPr>
              <a:t>Cron jobs the gateway actually runs</a:t>
            </a:r>
            <a:endParaRPr lang="en-US" sz="1300" dirty="0"/>
          </a:p>
        </p:txBody>
      </p:sp>
      <p:sp>
        <p:nvSpPr>
          <p:cNvPr id="31" name="Text 23"/>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300" i="1" dirty="0">
                <a:solidFill>
                  <a:schemeClr val="accent4"/>
                </a:solidFill>
              </a:rPr>
              <a:t>Compatible feel, not a clone: no protocol v4, no messaging-platform identity. Every time we thought "OpenClaw already does this," we chose: copy the idea, or the implementation?</a:t>
            </a:r>
            <a:endParaRPr lang="en-US" sz="13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WHY NOT FORK</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A smaller harness is a safer harness</a:t>
            </a:r>
            <a:endParaRPr lang="en-US" sz="3600" dirty="0"/>
          </a:p>
        </p:txBody>
      </p:sp>
      <p:sp>
        <p:nvSpPr>
          <p:cNvPr id="4" name="fork column"/>
          <p:cNvSpPr/>
          <p:nvPr/>
        </p:nvSpPr>
        <p:spPr>
          <a:xfrm>
            <a:off x="548640" y="1783080"/>
            <a:ext cx="5349240" cy="3977640"/>
          </a:xfrm>
          <a:prstGeom prst="rect">
            <a:avLst/>
          </a:prstGeom>
          <a:solidFill>
            <a:schemeClr val="bg2"/>
          </a:solidFill>
          <a:ln/>
        </p:spPr>
      </p:sp>
      <p:sp>
        <p:nvSpPr>
          <p:cNvPr id="5" name="ewok column"/>
          <p:cNvSpPr/>
          <p:nvPr/>
        </p:nvSpPr>
        <p:spPr>
          <a:xfrm>
            <a:off x="6263640" y="1783080"/>
            <a:ext cx="5349240" cy="3977640"/>
          </a:xfrm>
          <a:prstGeom prst="rect">
            <a:avLst/>
          </a:prstGeom>
          <a:solidFill>
            <a:schemeClr val="accent1"/>
          </a:solidFill>
          <a:ln/>
        </p:spPr>
      </p:sp>
      <p:pic>
        <p:nvPicPr>
          <p:cNvPr id="6" name="Image 0" descr="fork icon">    </p:cNvPr>
          <p:cNvPicPr>
            <a:picLocks noChangeAspect="1"/>
          </p:cNvPicPr>
          <p:nvPr/>
        </p:nvPicPr>
        <p:blipFill>
          <a:blip r:embed="rId1"/>
          <a:stretch>
            <a:fillRect/>
          </a:stretch>
        </p:blipFill>
        <p:spPr>
          <a:xfrm>
            <a:off x="868680" y="2011680"/>
            <a:ext cx="411480" cy="411480"/>
          </a:xfrm>
          <a:prstGeom prst="rect">
            <a:avLst/>
          </a:prstGeom>
        </p:spPr>
      </p:pic>
      <p:sp>
        <p:nvSpPr>
          <p:cNvPr id="7" name="Text 4"/>
          <p:cNvSpPr txBox="1"/>
          <p:nvPr/>
        </p:nvSpPr>
        <p:spPr>
          <a:xfrm>
            <a:off x="1417320" y="2011680"/>
            <a:ext cx="42976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Forking a hands-off harness</a:t>
            </a:r>
            <a:endParaRPr lang="en-US" sz="2000" dirty="0"/>
          </a:p>
        </p:txBody>
      </p:sp>
      <p:pic>
        <p:nvPicPr>
          <p:cNvPr id="8" name="Image 1" descr="lock icon">    </p:cNvPr>
          <p:cNvPicPr>
            <a:picLocks noChangeAspect="1"/>
          </p:cNvPicPr>
          <p:nvPr/>
        </p:nvPicPr>
        <p:blipFill>
          <a:blip r:embed="rId2"/>
          <a:stretch>
            <a:fillRect/>
          </a:stretch>
        </p:blipFill>
        <p:spPr>
          <a:xfrm>
            <a:off x="6583680" y="2011680"/>
            <a:ext cx="411480" cy="411480"/>
          </a:xfrm>
          <a:prstGeom prst="rect">
            <a:avLst/>
          </a:prstGeom>
        </p:spPr>
      </p:pic>
      <p:sp>
        <p:nvSpPr>
          <p:cNvPr id="9" name="Text 5"/>
          <p:cNvSpPr txBox="1"/>
          <p:nvPr/>
        </p:nvSpPr>
        <p:spPr>
          <a:xfrm>
            <a:off x="7132320" y="2011680"/>
            <a:ext cx="429768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EWOK's own harness</a:t>
            </a:r>
            <a:endParaRPr lang="en-US" sz="2000" dirty="0"/>
          </a:p>
        </p:txBody>
      </p:sp>
      <p:sp>
        <p:nvSpPr>
          <p:cNvPr id="10" name="Text 6"/>
          <p:cNvSpPr txBox="1"/>
          <p:nvPr/>
        </p:nvSpPr>
        <p:spPr>
          <a:xfrm>
            <a:off x="868680" y="2697480"/>
            <a:ext cx="4709160" cy="658368"/>
          </a:xfrm>
          <a:prstGeom prst="rect">
            <a:avLst/>
          </a:prstGeom>
          <a:noFill/>
          <a:ln/>
        </p:spPr>
        <p:txBody>
          <a:bodyPr wrap="square" lIns="0" tIns="0" rIns="0" bIns="0" rtlCol="0" anchor="t"/>
          <a:lstStyle/>
          <a:p>
            <a:pPr indent="0" marL="0">
              <a:buNone/>
            </a:pPr>
            <a:r>
              <a:rPr lang="en-US" sz="1500" dirty="0">
                <a:solidFill>
                  <a:schemeClr val="tx1"/>
                </a:solidFill>
              </a:rPr>
              <a:t>The agent can write new skills for itself</a:t>
            </a:r>
            <a:endParaRPr lang="en-US" sz="1500" dirty="0"/>
          </a:p>
        </p:txBody>
      </p:sp>
      <p:sp>
        <p:nvSpPr>
          <p:cNvPr id="11" name="Text 7"/>
          <p:cNvSpPr txBox="1"/>
          <p:nvPr/>
        </p:nvSpPr>
        <p:spPr>
          <a:xfrm>
            <a:off x="6583680" y="2697480"/>
            <a:ext cx="4709160" cy="658368"/>
          </a:xfrm>
          <a:prstGeom prst="rect">
            <a:avLst/>
          </a:prstGeom>
          <a:noFill/>
          <a:ln/>
        </p:spPr>
        <p:txBody>
          <a:bodyPr wrap="square" lIns="0" tIns="0" rIns="0" bIns="0" rtlCol="0" anchor="t"/>
          <a:lstStyle/>
          <a:p>
            <a:pPr indent="0" marL="0">
              <a:buNone/>
            </a:pPr>
            <a:r>
              <a:rPr lang="en-US" sz="1500" b="1" dirty="0">
                <a:solidFill>
                  <a:schemeClr val="bg1"/>
                </a:solidFill>
              </a:rPr>
              <a:t>A fixed set of tools we wrote and reviewed</a:t>
            </a:r>
            <a:endParaRPr lang="en-US" sz="1500" dirty="0"/>
          </a:p>
        </p:txBody>
      </p:sp>
      <p:sp>
        <p:nvSpPr>
          <p:cNvPr id="12" name="Text 8"/>
          <p:cNvSpPr txBox="1"/>
          <p:nvPr/>
        </p:nvSpPr>
        <p:spPr>
          <a:xfrm>
            <a:off x="868680" y="3447288"/>
            <a:ext cx="4709160" cy="658368"/>
          </a:xfrm>
          <a:prstGeom prst="rect">
            <a:avLst/>
          </a:prstGeom>
          <a:noFill/>
          <a:ln/>
        </p:spPr>
        <p:txBody>
          <a:bodyPr wrap="square" lIns="0" tIns="0" rIns="0" bIns="0" rtlCol="0" anchor="t"/>
          <a:lstStyle/>
          <a:p>
            <a:pPr indent="0" marL="0">
              <a:buNone/>
            </a:pPr>
            <a:r>
              <a:rPr lang="en-US" sz="1500" dirty="0">
                <a:solidFill>
                  <a:schemeClr val="tx1"/>
                </a:solidFill>
              </a:rPr>
              <a:t>Third-party skills from the internet, each one a possible hole</a:t>
            </a:r>
            <a:endParaRPr lang="en-US" sz="1500" dirty="0"/>
          </a:p>
        </p:txBody>
      </p:sp>
      <p:sp>
        <p:nvSpPr>
          <p:cNvPr id="13" name="Text 9"/>
          <p:cNvSpPr txBox="1"/>
          <p:nvPr/>
        </p:nvSpPr>
        <p:spPr>
          <a:xfrm>
            <a:off x="6583680" y="3447288"/>
            <a:ext cx="4709160" cy="658368"/>
          </a:xfrm>
          <a:prstGeom prst="rect">
            <a:avLst/>
          </a:prstGeom>
          <a:noFill/>
          <a:ln/>
        </p:spPr>
        <p:txBody>
          <a:bodyPr wrap="square" lIns="0" tIns="0" rIns="0" bIns="0" rtlCol="0" anchor="t"/>
          <a:lstStyle/>
          <a:p>
            <a:pPr indent="0" marL="0">
              <a:buNone/>
            </a:pPr>
            <a:r>
              <a:rPr lang="en-US" sz="1500" b="1" dirty="0">
                <a:solidFill>
                  <a:schemeClr val="bg1"/>
                </a:solidFill>
              </a:rPr>
              <a:t>No skill marketplace. Every tool sits behind the policy layer</a:t>
            </a:r>
            <a:endParaRPr lang="en-US" sz="1500" dirty="0"/>
          </a:p>
        </p:txBody>
      </p:sp>
      <p:sp>
        <p:nvSpPr>
          <p:cNvPr id="14" name="Text 10"/>
          <p:cNvSpPr txBox="1"/>
          <p:nvPr/>
        </p:nvSpPr>
        <p:spPr>
          <a:xfrm>
            <a:off x="868680" y="4197096"/>
            <a:ext cx="4709160" cy="658368"/>
          </a:xfrm>
          <a:prstGeom prst="rect">
            <a:avLst/>
          </a:prstGeom>
          <a:noFill/>
          <a:ln/>
        </p:spPr>
        <p:txBody>
          <a:bodyPr wrap="square" lIns="0" tIns="0" rIns="0" bIns="0" rtlCol="0" anchor="t"/>
          <a:lstStyle/>
          <a:p>
            <a:pPr indent="0" marL="0">
              <a:buNone/>
            </a:pPr>
            <a:r>
              <a:rPr lang="en-US" sz="1500" dirty="0">
                <a:solidFill>
                  <a:schemeClr val="tx1"/>
                </a:solidFill>
              </a:rPr>
              <a:t>The interface grows and shifts as the agent does</a:t>
            </a:r>
            <a:endParaRPr lang="en-US" sz="1500" dirty="0"/>
          </a:p>
        </p:txBody>
      </p:sp>
      <p:sp>
        <p:nvSpPr>
          <p:cNvPr id="15" name="Text 11"/>
          <p:cNvSpPr txBox="1"/>
          <p:nvPr/>
        </p:nvSpPr>
        <p:spPr>
          <a:xfrm>
            <a:off x="6583680" y="4197096"/>
            <a:ext cx="4709160" cy="658368"/>
          </a:xfrm>
          <a:prstGeom prst="rect">
            <a:avLst/>
          </a:prstGeom>
          <a:noFill/>
          <a:ln/>
        </p:spPr>
        <p:txBody>
          <a:bodyPr wrap="square" lIns="0" tIns="0" rIns="0" bIns="0" rtlCol="0" anchor="t"/>
          <a:lstStyle/>
          <a:p>
            <a:pPr indent="0" marL="0">
              <a:buNone/>
            </a:pPr>
            <a:r>
              <a:rPr lang="en-US" sz="1500" b="1" dirty="0">
                <a:solidFill>
                  <a:schemeClr val="bg1"/>
                </a:solidFill>
              </a:rPr>
              <a:t>The same interface every day, so routines hold</a:t>
            </a:r>
            <a:endParaRPr lang="en-US" sz="1500" dirty="0"/>
          </a:p>
        </p:txBody>
      </p:sp>
      <p:sp>
        <p:nvSpPr>
          <p:cNvPr id="16" name="Text 12"/>
          <p:cNvSpPr txBox="1"/>
          <p:nvPr/>
        </p:nvSpPr>
        <p:spPr>
          <a:xfrm>
            <a:off x="868680" y="4946904"/>
            <a:ext cx="4709160" cy="658368"/>
          </a:xfrm>
          <a:prstGeom prst="rect">
            <a:avLst/>
          </a:prstGeom>
          <a:noFill/>
          <a:ln/>
        </p:spPr>
        <p:txBody>
          <a:bodyPr wrap="square" lIns="0" tIns="0" rIns="0" bIns="0" rtlCol="0" anchor="t"/>
          <a:lstStyle/>
          <a:p>
            <a:pPr indent="0" marL="0">
              <a:buNone/>
            </a:pPr>
            <a:r>
              <a:rPr lang="en-US" sz="1500" dirty="0">
                <a:solidFill>
                  <a:schemeClr val="tx1"/>
                </a:solidFill>
              </a:rPr>
              <a:t>Fully hands-off autonomy</a:t>
            </a:r>
            <a:endParaRPr lang="en-US" sz="1500" dirty="0"/>
          </a:p>
        </p:txBody>
      </p:sp>
      <p:sp>
        <p:nvSpPr>
          <p:cNvPr id="17" name="Text 13"/>
          <p:cNvSpPr txBox="1"/>
          <p:nvPr/>
        </p:nvSpPr>
        <p:spPr>
          <a:xfrm>
            <a:off x="6583680" y="4946904"/>
            <a:ext cx="4709160" cy="658368"/>
          </a:xfrm>
          <a:prstGeom prst="rect">
            <a:avLst/>
          </a:prstGeom>
          <a:noFill/>
          <a:ln/>
        </p:spPr>
        <p:txBody>
          <a:bodyPr wrap="square" lIns="0" tIns="0" rIns="0" bIns="0" rtlCol="0" anchor="t"/>
          <a:lstStyle/>
          <a:p>
            <a:pPr indent="0" marL="0">
              <a:buNone/>
            </a:pPr>
            <a:r>
              <a:rPr lang="en-US" sz="1500" b="1" dirty="0">
                <a:solidFill>
                  <a:schemeClr val="bg1"/>
                </a:solidFill>
              </a:rPr>
              <a:t>The person approves anything that matters</a:t>
            </a:r>
            <a:endParaRPr lang="en-US" sz="1500" dirty="0"/>
          </a:p>
        </p:txBody>
      </p:sp>
      <p:sp>
        <p:nvSpPr>
          <p:cNvPr id="18" name="Text 14"/>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For someone who isn't technical, every new capability is one more thing to vet and one more thing to learn.</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1"/>
                </a:solidFill>
              </a:rPr>
              <a:t>WHERE WE ARE</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tx1"/>
                </a:solidFill>
              </a:rPr>
              <a:t>Honest about what's built</a:t>
            </a:r>
            <a:endParaRPr lang="en-US" sz="3600" dirty="0"/>
          </a:p>
        </p:txBody>
      </p:sp>
      <p:sp>
        <p:nvSpPr>
          <p:cNvPr id="4" name="Built column"/>
          <p:cNvSpPr/>
          <p:nvPr/>
        </p:nvSpPr>
        <p:spPr>
          <a:xfrm>
            <a:off x="548640" y="1783080"/>
            <a:ext cx="5349240" cy="4297680"/>
          </a:xfrm>
          <a:prstGeom prst="rect">
            <a:avLst/>
          </a:prstGeom>
          <a:solidFill>
            <a:schemeClr val="bg2"/>
          </a:solidFill>
          <a:ln/>
        </p:spPr>
      </p:sp>
      <p:pic>
        <p:nvPicPr>
          <p:cNvPr id="5" name="Image 0" descr="Built icon">    </p:cNvPr>
          <p:cNvPicPr>
            <a:picLocks noChangeAspect="1"/>
          </p:cNvPicPr>
          <p:nvPr/>
        </p:nvPicPr>
        <p:blipFill>
          <a:blip r:embed="rId1"/>
          <a:stretch>
            <a:fillRect/>
          </a:stretch>
        </p:blipFill>
        <p:spPr>
          <a:xfrm>
            <a:off x="868680" y="2057400"/>
            <a:ext cx="457200" cy="457200"/>
          </a:xfrm>
          <a:prstGeom prst="rect">
            <a:avLst/>
          </a:prstGeom>
        </p:spPr>
      </p:pic>
      <p:sp>
        <p:nvSpPr>
          <p:cNvPr id="6" name="Text 3"/>
          <p:cNvSpPr txBox="1"/>
          <p:nvPr/>
        </p:nvSpPr>
        <p:spPr>
          <a:xfrm>
            <a:off x="1463040" y="2057400"/>
            <a:ext cx="41148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Built</a:t>
            </a:r>
            <a:endParaRPr lang="en-US" sz="2200" dirty="0"/>
          </a:p>
        </p:txBody>
      </p:sp>
      <p:sp>
        <p:nvSpPr>
          <p:cNvPr id="7" name="Text 4"/>
          <p:cNvSpPr txBox="1"/>
          <p:nvPr/>
        </p:nvSpPr>
        <p:spPr>
          <a:xfrm>
            <a:off x="868680" y="2788920"/>
            <a:ext cx="4709160" cy="31546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Voice, phone and web chat</a:t>
            </a:r>
            <a:endParaRPr lang="en-US" sz="1900" dirty="0"/>
          </a:p>
          <a:p>
            <a:pPr marL="342900" indent="-342900">
              <a:spcAft>
                <a:spcPts val="1000"/>
              </a:spcAft>
              <a:buSzPct val="100000"/>
              <a:buChar char="•"/>
            </a:pPr>
            <a:r>
              <a:rPr lang="en-US" sz="1900" dirty="0">
                <a:solidFill>
                  <a:schemeClr val="tx1"/>
                </a:solidFill>
              </a:rPr>
              <a:t>Dashboard with connectors</a:t>
            </a:r>
            <a:endParaRPr lang="en-US" sz="1900" dirty="0"/>
          </a:p>
          <a:p>
            <a:pPr marL="342900" indent="-342900">
              <a:spcAft>
                <a:spcPts val="1000"/>
              </a:spcAft>
              <a:buSzPct val="100000"/>
              <a:buChar char="•"/>
            </a:pPr>
            <a:r>
              <a:rPr lang="en-US" sz="1900" dirty="0">
                <a:solidFill>
                  <a:schemeClr val="tx1"/>
                </a:solidFill>
              </a:rPr>
              <a:t>Inspectable memory</a:t>
            </a:r>
            <a:endParaRPr lang="en-US" sz="1900" dirty="0"/>
          </a:p>
          <a:p>
            <a:pPr marL="342900" indent="-342900">
              <a:spcAft>
                <a:spcPts val="1000"/>
              </a:spcAft>
              <a:buSzPct val="100000"/>
              <a:buChar char="•"/>
            </a:pPr>
            <a:r>
              <a:rPr lang="en-US" sz="1900" dirty="0">
                <a:solidFill>
                  <a:schemeClr val="tx1"/>
                </a:solidFill>
              </a:rPr>
              <a:t>Scam flagging</a:t>
            </a:r>
            <a:endParaRPr lang="en-US" sz="1900" dirty="0"/>
          </a:p>
          <a:p>
            <a:pPr marL="342900" indent="-342900">
              <a:spcAft>
                <a:spcPts val="1000"/>
              </a:spcAft>
              <a:buSzPct val="100000"/>
              <a:buChar char="•"/>
            </a:pPr>
            <a:r>
              <a:rPr lang="en-US" sz="1900" dirty="0">
                <a:solidFill>
                  <a:schemeClr val="tx1"/>
                </a:solidFill>
              </a:rPr>
              <a:t>Policy layer: tiers, caps, allowlist, tokens</a:t>
            </a:r>
            <a:endParaRPr lang="en-US" sz="1900" dirty="0"/>
          </a:p>
          <a:p>
            <a:pPr marL="342900" indent="-342900">
              <a:spcAft>
                <a:spcPts val="1000"/>
              </a:spcAft>
              <a:buSzPct val="100000"/>
              <a:buChar char="•"/>
            </a:pPr>
            <a:r>
              <a:rPr lang="en-US" sz="1900" dirty="0">
                <a:solidFill>
                  <a:schemeClr val="tx1"/>
                </a:solidFill>
              </a:rPr>
              <a:t>Scheduled automations and reminders</a:t>
            </a:r>
            <a:endParaRPr lang="en-US" sz="1900" dirty="0"/>
          </a:p>
        </p:txBody>
      </p:sp>
      <p:sp>
        <p:nvSpPr>
          <p:cNvPr id="8" name="Still to do column"/>
          <p:cNvSpPr/>
          <p:nvPr/>
        </p:nvSpPr>
        <p:spPr>
          <a:xfrm>
            <a:off x="6263640" y="1783080"/>
            <a:ext cx="5349240" cy="4297680"/>
          </a:xfrm>
          <a:prstGeom prst="rect">
            <a:avLst/>
          </a:prstGeom>
          <a:solidFill>
            <a:schemeClr val="bg2"/>
          </a:solidFill>
          <a:ln/>
        </p:spPr>
      </p:sp>
      <p:pic>
        <p:nvPicPr>
          <p:cNvPr id="9" name="Image 1" descr="Still to do icon">    </p:cNvPr>
          <p:cNvPicPr>
            <a:picLocks noChangeAspect="1"/>
          </p:cNvPicPr>
          <p:nvPr/>
        </p:nvPicPr>
        <p:blipFill>
          <a:blip r:embed="rId2"/>
          <a:stretch>
            <a:fillRect/>
          </a:stretch>
        </p:blipFill>
        <p:spPr>
          <a:xfrm>
            <a:off x="6583680" y="2057400"/>
            <a:ext cx="457200" cy="457200"/>
          </a:xfrm>
          <a:prstGeom prst="rect">
            <a:avLst/>
          </a:prstGeom>
        </p:spPr>
      </p:pic>
      <p:sp>
        <p:nvSpPr>
          <p:cNvPr id="10" name="Text 6"/>
          <p:cNvSpPr txBox="1"/>
          <p:nvPr/>
        </p:nvSpPr>
        <p:spPr>
          <a:xfrm>
            <a:off x="7178040" y="2057400"/>
            <a:ext cx="411480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Still to do</a:t>
            </a:r>
            <a:endParaRPr lang="en-US" sz="2200" dirty="0"/>
          </a:p>
        </p:txBody>
      </p:sp>
      <p:sp>
        <p:nvSpPr>
          <p:cNvPr id="11" name="Text 7"/>
          <p:cNvSpPr txBox="1"/>
          <p:nvPr/>
        </p:nvSpPr>
        <p:spPr>
          <a:xfrm>
            <a:off x="6583680" y="2788920"/>
            <a:ext cx="4709160" cy="31546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Real payment processing</a:t>
            </a:r>
            <a:endParaRPr lang="en-US" sz="1900" dirty="0"/>
          </a:p>
          <a:p>
            <a:pPr marL="342900" indent="-342900">
              <a:spcAft>
                <a:spcPts val="1000"/>
              </a:spcAft>
              <a:buSzPct val="100000"/>
              <a:buChar char="•"/>
            </a:pPr>
            <a:r>
              <a:rPr lang="en-US" sz="1900" dirty="0">
                <a:solidFill>
                  <a:schemeClr val="tx1"/>
                </a:solidFill>
              </a:rPr>
              <a:t>SMS channel</a:t>
            </a:r>
            <a:endParaRPr lang="en-US" sz="1900" dirty="0"/>
          </a:p>
          <a:p>
            <a:pPr marL="342900" indent="-342900">
              <a:spcAft>
                <a:spcPts val="1000"/>
              </a:spcAft>
              <a:buSzPct val="100000"/>
              <a:buChar char="•"/>
            </a:pPr>
            <a:r>
              <a:rPr lang="en-US" sz="1900" dirty="0">
                <a:solidFill>
                  <a:schemeClr val="tx1"/>
                </a:solidFill>
              </a:rPr>
              <a:t>A dedicated large-text companion view</a:t>
            </a:r>
            <a:endParaRPr lang="en-US" sz="1900" dirty="0"/>
          </a:p>
          <a:p>
            <a:pPr marL="342900" indent="-342900">
              <a:spcAft>
                <a:spcPts val="1000"/>
              </a:spcAft>
              <a:buSzPct val="100000"/>
              <a:buChar char="•"/>
            </a:pPr>
            <a:r>
              <a:rPr lang="en-US" sz="1900" dirty="0">
                <a:solidFill>
                  <a:schemeClr val="tx1"/>
                </a:solidFill>
              </a:rPr>
              <a:t>Computer-use safety checks and site list</a:t>
            </a:r>
            <a:endParaRPr lang="en-US" sz="1900" dirty="0"/>
          </a:p>
          <a:p>
            <a:pPr marL="342900" indent="-342900">
              <a:spcAft>
                <a:spcPts val="1000"/>
              </a:spcAft>
              <a:buSzPct val="100000"/>
              <a:buChar char="•"/>
            </a:pPr>
            <a:r>
              <a:rPr lang="en-US" sz="1900" dirty="0">
                <a:solidFill>
                  <a:schemeClr val="tx1"/>
                </a:solidFill>
              </a:rPr>
              <a:t>Testing with real users</a:t>
            </a:r>
            <a:endParaRPr lang="en-US" sz="19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EWOK logo">    </p:cNvPr>
          <p:cNvPicPr>
            <a:picLocks noChangeAspect="1"/>
          </p:cNvPicPr>
          <p:nvPr/>
        </p:nvPicPr>
        <p:blipFill>
          <a:blip r:embed="rId1"/>
          <a:stretch>
            <a:fillRect/>
          </a:stretch>
        </p:blipFill>
        <p:spPr>
          <a:xfrm>
            <a:off x="731520" y="1188720"/>
            <a:ext cx="3291840" cy="766079"/>
          </a:xfrm>
          <a:prstGeom prst="rect">
            <a:avLst/>
          </a:prstGeom>
        </p:spPr>
      </p:pic>
      <p:sp>
        <p:nvSpPr>
          <p:cNvPr id="3" name="Text 0"/>
          <p:cNvSpPr/>
          <p:nvPr>
            <p:ph idx="100" type="title" hasCustomPrompt="1"/>
          </p:nvPr>
        </p:nvSpPr>
        <p:spPr>
          <a:xfrm>
            <a:off x="731520" y="3063240"/>
            <a:ext cx="10698480" cy="1371600"/>
          </a:xfrm>
          <a:prstGeom prst="rect">
            <a:avLst/>
          </a:prstGeom>
          <a:noFill/>
          <a:ln/>
        </p:spPr>
        <p:txBody>
          <a:bodyPr wrap="square" lIns="0" tIns="0" rIns="0" bIns="0" rtlCol="0" anchor="t"/>
          <a:lstStyle/>
          <a:p>
            <a:pPr algn="l" indent="0" marL="0">
              <a:buNone/>
            </a:pPr>
            <a:r>
              <a:rPr lang="en-US" sz="3200" dirty="0">
                <a:solidFill>
                  <a:schemeClr val="bg1"/>
                </a:solidFill>
              </a:rPr>
              <a:t>Technology should adapt to people, not the other way around</a:t>
            </a:r>
            <a:endParaRPr lang="en-US" sz="3200" dirty="0"/>
          </a:p>
        </p:txBody>
      </p:sp>
      <p:sp>
        <p:nvSpPr>
          <p:cNvPr id="4" name="Text 0"/>
          <p:cNvSpPr/>
          <p:nvPr>
            <p:ph idx="101" type="body" hasCustomPrompt="1"/>
          </p:nvPr>
        </p:nvSpPr>
        <p:spPr>
          <a:xfrm>
            <a:off x="731520" y="5120640"/>
            <a:ext cx="10698480" cy="457200"/>
          </a:xfrm>
          <a:prstGeom prst="rect">
            <a:avLst/>
          </a:prstGeom>
          <a:noFill/>
          <a:ln/>
        </p:spPr>
        <p:txBody>
          <a:bodyPr wrap="square" lIns="0" tIns="0" rIns="0" bIns="0" rtlCol="0"/>
          <a:lstStyle/>
          <a:p>
            <a:pPr indent="0" marL="0">
              <a:buNone/>
            </a:pPr>
            <a:r>
              <a:rPr lang="en-US" sz="1400" b="1" spc="400" kern="0" dirty="0">
                <a:solidFill>
                  <a:schemeClr val="accent4"/>
                </a:solidFill>
              </a:rPr>
              <a:t>A PATIENT VOICE  ·  A CLEAR SCREEN  ·  GUARDRAILS THAT KEEP THEM IN CHARGE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Why older adults">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400" kern="0" dirty="0">
                <a:solidFill>
                  <a:schemeClr val="accent4"/>
                </a:solidFill>
              </a:rPr>
              <a:t>WHY OLDER ADULTS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dirty="0">
                <a:solidFill>
                  <a:schemeClr val="bg1"/>
                </a:solidFill>
              </a:rPr>
              <a:t>Build for the hardest user, and you reach a billion</a:t>
            </a:r>
            <a:endParaRPr lang="en-US" sz="3600" dirty="0"/>
          </a:p>
        </p:txBody>
      </p:sp>
      <p:sp>
        <p:nvSpPr>
          <p:cNvPr id="4" name="Text 2"/>
          <p:cNvSpPr txBox="1"/>
          <p:nvPr/>
        </p:nvSpPr>
        <p:spPr>
          <a:xfrm>
            <a:off x="548640" y="1691640"/>
            <a:ext cx="10515600" cy="731520"/>
          </a:xfrm>
          <a:prstGeom prst="rect">
            <a:avLst/>
          </a:prstGeom>
          <a:noFill/>
          <a:ln/>
        </p:spPr>
        <p:txBody>
          <a:bodyPr wrap="square" lIns="0" tIns="0" rIns="0" bIns="0" rtlCol="0" anchor="t"/>
          <a:lstStyle/>
          <a:p>
            <a:pPr indent="0" marL="0">
              <a:buNone/>
            </a:pPr>
            <a:r>
              <a:rPr lang="en-US" sz="1600" dirty="0">
                <a:solidFill>
                  <a:schemeClr val="bg2"/>
                </a:solidFill>
              </a:rPr>
              <a:t>AI for a billion users won't come from one more app. It comes from AI that works for someone who won't install one: slow speech, long pauses, low confidence, and the first target for scammers.</a:t>
            </a:r>
            <a:endParaRPr lang="en-US" sz="1600" dirty="0"/>
          </a:p>
        </p:txBody>
      </p:sp>
      <p:sp>
        <p:nvSpPr>
          <p:cNvPr id="5" name="stat 1"/>
          <p:cNvSpPr/>
          <p:nvPr/>
        </p:nvSpPr>
        <p:spPr>
          <a:xfrm>
            <a:off x="548640" y="2651760"/>
            <a:ext cx="3520440" cy="2743200"/>
          </a:xfrm>
          <a:prstGeom prst="rect">
            <a:avLst/>
          </a:prstGeom>
          <a:solidFill>
            <a:schemeClr val="tx1"/>
          </a:solidFill>
          <a:ln/>
        </p:spPr>
      </p:sp>
      <p:sp>
        <p:nvSpPr>
          <p:cNvPr id="6" name="Text 4"/>
          <p:cNvSpPr txBox="1"/>
          <p:nvPr/>
        </p:nvSpPr>
        <p:spPr>
          <a:xfrm>
            <a:off x="822960" y="2926080"/>
            <a:ext cx="29718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1B+</a:t>
            </a:r>
            <a:endParaRPr lang="en-US" sz="5400" dirty="0"/>
          </a:p>
        </p:txBody>
      </p:sp>
      <p:sp>
        <p:nvSpPr>
          <p:cNvPr id="7" name="Text 5"/>
          <p:cNvSpPr txBox="1"/>
          <p:nvPr/>
        </p:nvSpPr>
        <p:spPr>
          <a:xfrm>
            <a:off x="822960" y="4160520"/>
            <a:ext cx="2971800" cy="914400"/>
          </a:xfrm>
          <a:prstGeom prst="rect">
            <a:avLst/>
          </a:prstGeom>
          <a:noFill/>
          <a:ln/>
        </p:spPr>
        <p:txBody>
          <a:bodyPr wrap="square" lIns="0" tIns="0" rIns="0" bIns="0" rtlCol="0" anchor="t"/>
          <a:lstStyle/>
          <a:p>
            <a:pPr indent="0" marL="0">
              <a:buNone/>
            </a:pPr>
            <a:r>
              <a:rPr lang="en-US" sz="1600" dirty="0">
                <a:solidFill>
                  <a:schemeClr val="bg2"/>
                </a:solidFill>
              </a:rPr>
              <a:t>people aged 60+ worldwide today (WHO)</a:t>
            </a:r>
            <a:endParaRPr lang="en-US" sz="1600" dirty="0"/>
          </a:p>
        </p:txBody>
      </p:sp>
      <p:sp>
        <p:nvSpPr>
          <p:cNvPr id="8" name="stat 2"/>
          <p:cNvSpPr/>
          <p:nvPr/>
        </p:nvSpPr>
        <p:spPr>
          <a:xfrm>
            <a:off x="4320540" y="2651760"/>
            <a:ext cx="3520440" cy="2743200"/>
          </a:xfrm>
          <a:prstGeom prst="rect">
            <a:avLst/>
          </a:prstGeom>
          <a:solidFill>
            <a:schemeClr val="tx1"/>
          </a:solidFill>
          <a:ln/>
        </p:spPr>
      </p:sp>
      <p:sp>
        <p:nvSpPr>
          <p:cNvPr id="9" name="Text 7"/>
          <p:cNvSpPr txBox="1"/>
          <p:nvPr/>
        </p:nvSpPr>
        <p:spPr>
          <a:xfrm>
            <a:off x="4594860" y="2926080"/>
            <a:ext cx="29718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2.1B</a:t>
            </a:r>
            <a:endParaRPr lang="en-US" sz="5400" dirty="0"/>
          </a:p>
        </p:txBody>
      </p:sp>
      <p:sp>
        <p:nvSpPr>
          <p:cNvPr id="10" name="Text 8"/>
          <p:cNvSpPr txBox="1"/>
          <p:nvPr/>
        </p:nvSpPr>
        <p:spPr>
          <a:xfrm>
            <a:off x="4594860" y="4160520"/>
            <a:ext cx="2971800" cy="914400"/>
          </a:xfrm>
          <a:prstGeom prst="rect">
            <a:avLst/>
          </a:prstGeom>
          <a:noFill/>
          <a:ln/>
        </p:spPr>
        <p:txBody>
          <a:bodyPr wrap="square" lIns="0" tIns="0" rIns="0" bIns="0" rtlCol="0" anchor="t"/>
          <a:lstStyle/>
          <a:p>
            <a:pPr indent="0" marL="0">
              <a:buNone/>
            </a:pPr>
            <a:r>
              <a:rPr lang="en-US" sz="1600" dirty="0">
                <a:solidFill>
                  <a:schemeClr val="bg2"/>
                </a:solidFill>
              </a:rPr>
              <a:t>people aged 60+ by 2050 (WHO)</a:t>
            </a:r>
            <a:endParaRPr lang="en-US" sz="1600" dirty="0"/>
          </a:p>
        </p:txBody>
      </p:sp>
      <p:sp>
        <p:nvSpPr>
          <p:cNvPr id="11" name="stat 3"/>
          <p:cNvSpPr/>
          <p:nvPr/>
        </p:nvSpPr>
        <p:spPr>
          <a:xfrm>
            <a:off x="8092440" y="2651760"/>
            <a:ext cx="3520440" cy="2743200"/>
          </a:xfrm>
          <a:prstGeom prst="rect">
            <a:avLst/>
          </a:prstGeom>
          <a:solidFill>
            <a:schemeClr val="tx1"/>
          </a:solidFill>
          <a:ln/>
        </p:spPr>
      </p:sp>
      <p:sp>
        <p:nvSpPr>
          <p:cNvPr id="12" name="Text 10"/>
          <p:cNvSpPr txBox="1"/>
          <p:nvPr/>
        </p:nvSpPr>
        <p:spPr>
          <a:xfrm>
            <a:off x="8366760" y="2926080"/>
            <a:ext cx="29718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$3.4B</a:t>
            </a:r>
            <a:endParaRPr lang="en-US" sz="5400" dirty="0"/>
          </a:p>
        </p:txBody>
      </p:sp>
      <p:sp>
        <p:nvSpPr>
          <p:cNvPr id="13" name="Text 11"/>
          <p:cNvSpPr txBox="1"/>
          <p:nvPr/>
        </p:nvSpPr>
        <p:spPr>
          <a:xfrm>
            <a:off x="8366760" y="4160520"/>
            <a:ext cx="2971800" cy="914400"/>
          </a:xfrm>
          <a:prstGeom prst="rect">
            <a:avLst/>
          </a:prstGeom>
          <a:noFill/>
          <a:ln/>
        </p:spPr>
        <p:txBody>
          <a:bodyPr wrap="square" lIns="0" tIns="0" rIns="0" bIns="0" rtlCol="0" anchor="t"/>
          <a:lstStyle/>
          <a:p>
            <a:pPr indent="0" marL="0">
              <a:buNone/>
            </a:pPr>
            <a:r>
              <a:rPr lang="en-US" sz="1600" dirty="0">
                <a:solidFill>
                  <a:schemeClr val="bg2"/>
                </a:solidFill>
              </a:rPr>
              <a:t>lost to fraud by Americans 60+ in 2023 (FBI)</a:t>
            </a:r>
            <a:endParaRPr lang="en-US" sz="1600" dirty="0"/>
          </a:p>
        </p:txBody>
      </p:sp>
      <p:sp>
        <p:nvSpPr>
          <p:cNvPr id="17" name="Text 15"/>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500" i="1" dirty="0">
                <a:solidFill>
                  <a:schemeClr val="accent4"/>
                </a:solidFill>
              </a:rPr>
              <a:t>The curb-cut effect: what works for a grandparent on a landline works for anyone with an accent, a noisy line or no smartphone.</a:t>
            </a:r>
            <a:endParaRPr lang="en-US" sz="1500" dirty="0"/>
          </a:p>
        </p:txBody>
      </p:sp>
      <p:sp>
        <p:nvSpPr>
          <p:cNvPr id="25" name="Slide Number Placeholder 0"/>
          <p:cNvSpPr>
            <a:spLocks noGrp="1"/>
          </p:cNvSpPr>
          <p:nvPr>
            <p:ph type="sldNum" sz="quarter" idx="4294967295"/>
          </p:nvPr>
        </p:nvSpPr>
        <p:spPr>
          <a:xfrm>
            <a:off x="11155680" y="635508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EWOK Plate">
  <a:themeElements>
    <a:clrScheme name="EWOK Plate">
      <a:dk1>
        <a:srgbClr val="2B2A26"/>
      </a:dk1>
      <a:lt1>
        <a:srgbClr val="F4EDE1"/>
      </a:lt1>
      <a:dk2>
        <a:srgbClr val="16201B"/>
      </a:dk2>
      <a:lt2>
        <a:srgbClr val="EBE1D0"/>
      </a:lt2>
      <a:accent1>
        <a:srgbClr val="751F36"/>
      </a:accent1>
      <a:accent2>
        <a:srgbClr val="1F4A3A"/>
      </a:accent2>
      <a:accent3>
        <a:srgbClr val="4F430C"/>
      </a:accent3>
      <a:accent4>
        <a:srgbClr val="C0697A"/>
      </a:accent4>
      <a:accent5>
        <a:srgbClr val="8AA595"/>
      </a:accent5>
      <a:accent6>
        <a:srgbClr val="82191B"/>
      </a:accent6>
      <a:hlink>
        <a:srgbClr val="751F36"/>
      </a:hlink>
      <a:folHlink>
        <a:srgbClr val="4F430C"/>
      </a:folHlink>
    </a:clrScheme>
    <a:fontScheme name="EWOK Pl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EWOK</dc:title>
  <dc:subject>MHacks 26</dc:subject>
  <dc:creator>EWOK team</dc:creator>
  <cp:lastModifiedBy>EWOK team</cp:lastModifiedBy>
  <cp:revision>1</cp:revision>
  <dcterms:created xsi:type="dcterms:W3CDTF">2026-10-04T14:49:30Z</dcterms:created>
  <dcterms:modified xsi:type="dcterms:W3CDTF">2026-10-04T14:49:30Z</dcterms:modified>
</cp:coreProperties>
</file>